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Başlık slaydı — talimat gereği isim, tarih, kurum, logo yok. Sunumun konusu tek cümlede: girdi kısıtlı bir mobil robotta CBF tabanlı güvenlik filtresinin ne zaman işe yaramadığını (feasibility sınırı) karakterize ediyoruz. Yeni bir filtre önermiyoruz — mevcut bir filtrenin çalışma zarfını ölçüyoruz.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Dört bölüm: I. Problem ve teori (3-7) — sunumun gövdesi. II. Mimari ve formülasyon (8-10). III. Deneysel karakterizasyon (11-14) — bilinçli olarak kısa tutuldu, iki alt slayta bölündü (bulgular + görseller) okunabilirlik için. IV. Yol haritası (15-17).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oranı 1.8-6.4x arası — bu, robotun kendi maksimum hızının katları cinsinden engelin ne kadar hızlı geldiği. Bu rejimde klasik "kaç ya da geçir" stratejileri çalışmıyor, çünkü robot ne kaçabilecek kadar hızlı ne de engeli fiziksel olarak geçebilecek durumda. Vurgulanacak: bu bir "iyi ayarlanmamış filtre" sorunu değil, temelde geometrik/kinematik bir sınırlama sorunu.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Lyapunov "hedefe git" der (attractivity, çift taraflı bir talep: hem yakınsa hem her yerde). CBF "o kümeden çıkma" der (forward invariance, tek taraflı: sadece sınıra yaklaşınca kısıtlar, içeride serbest bırakır). Bu asimetri CBF-QP filtresinin neden "görünmez" kalabildiğini açıklıyor — sadece gerektiğinde araya giriyor.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ok bir zorunluluk, tercih değil. Kritik geçiş: "sonsuz çözüm" adımında bir şey seçmemiz gerekiyor, ve doğal/asgari-müdahale cevabı nominal komuta en yakın nokta — bu QP'yi doğurur. Alttaki tablo CBF-QP'yi tanıdık kontrolcülerle konumlandırıyor: LQR ve MPC'den farklı olarak CBF-QP tek başına bir kontrolcü değil, bir FİLTRE — bir nominal komut olmadan hiçbir şey üretmez.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Sağdaki şema QP'nin geometrisini gösteriyor: v-ω düzleminde kutu, donanım limitlerini (girdi kısıtı U) temsil ediyor; gölgeli üçgen güvenlik kısıtının ihlal edildiği bölge. u_nom (nominal komut) bu bölgenin içine düşerse, QP onu sınırın üzerindeki en yakın noktaya (u*) projekte ediyor — bu, filtrenin "asgari müdahale" ilkesinin görsel karşılığı.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"bağıl derece" probleminin somut hali: h robot merkezine yazılınca ω türevde hiç görünmüyor (teğet yön t̂ ile hız çarpımı sadece v içeriyor). Çözüm, bariyeri merkezden L kadar ileride sanal bir noktaya (lookahead) yazmak — bu noktanın hızı hem v hem ω'ya bağlı (normal yön n̂ üzerinden). Ama bunun bir bedeli var: artık garanti edilen şey gövdenin değil, bu sanal noktanın güvenliği — L kadar bir pay eklemek zorunda kalıyoruz.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Mimarideki en önemli tasarım kararı: nominal kontrolcü tamamen engelden habersiz. Bu izolasyon sayesinde ölçtüğümüz her kaçınma davranışı doğrudan filtreye atfedilebiliyor — bir Nav2/DWB gibi hazır bir planlayıcı kullansaydık, kendi kaçınma mantığı filtrenin etkisiyle karışırdı ve neyin neden kaynaklandığını ayıramazdık.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Dört mod, tek bir farkla ayrılıyor: engelin hareketi ḣ'ye nasıl giriyor. REACTIVE hiç girmiyor (model hatası — engel duruyor sanılıyor). SHIFT_NAIVE konumu ileri kaydırıyor ama türevi buna göre düzeltmiyor — bu bir bug, ve REACTIVE'den bile kötü sonuç veriyor. SHIFT_CORRECT doğru türetilmiş hali. DCBF ise SHIFT_CORRECT'in T=0 (öngörü ufku sıfır) özel hali — bunu hem matematiksel olarak türettik hem deneysel olarak (T=0 koşularında iki modun birebir aynı çıktığını göstererek) doğruladık.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Slack, hard-kısıtlı QP'nin çözümsüz kaldığı anlarda "ne olacağı tanımsız" sorununu çözüyor: δ≥0 gevşeme değişkeni ekleyip ihlali maliyete (ρ·δ²) sokuyoruz. δ_rel normalizasyonu önemli çünkü ham δ, α ve h'nin ölçeğine göre anlamsız büyür/küçülür — normalize etmeden "aktif mi değil mi" eşiği koymak mümkün değil. Maliyet normalizasyonu ayrı bir konu: v ve ω'nın fiziksel aralıkları çok farklı, bunu düzeltmezseniz optimizasyon sessizce yanlış tercihler yapar.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bölümü kısa tutuyoruz — asıl vurgu teori ve mimaride. Tek metodolojik nokta önemli: tam parametre taraması yerine ikili arama (binary search) ile doğrudan sınır izlendi, çünkü ilgilendiğimiz şey bir yüzeyin tamamı değil sadece nerede kritik geçişin olduğu. Üç ayrı sınır tanımı — çarpışma, gövde marjı, feasibility — bundan sonraki bulgular slaytının temeli.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Beş bulgu, önem sırasına yakın: (1) sınırın tekil değil iki-katmanlı olması tezin merkezi kavramsal katkısı; (2) aktüasyon sınırının çarpışma sınırının çok öncesinde başlaması pratik tasarım için doğrudan uyarı; (3) alfa taramasının iç bükey olması "optimal" bir tasarım noktası olduğunu gösteriyor; (4) öngörü ufkunun üst sınırı en beklenmedik bulgu — sezgiye aykırı; (5) yarım türetilmiş SHIFT_NAIVE'in REACTIVE'den kötü çıkması matematiksel titizliğin önemini gösteriyor.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Soldaki figür: kritik hız (v_crit) eğrileri α, w ve L eksenlerinde, üç sınır göstergesiyle (çarpışma, gövde marjı, feasibility). Sağdaki: T (öngörü ufku) taraması, düz giden ve manevra eden engel karşılaştırması — büyük T'de manevra senaryosunda çarpışma sınırının düştüğü, ama feasibility sınırının YÜKSELDİĞİ (filtre "rahat" ama yanlış yerde) görülüyor. Bu ayrışma slayt 12'deki 4. bulgunun görsel kanıtı.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bilinçli olarak dürüst ve savunmacı değil: her madde, jürinin/dinleyicinin soracağı bir soruya önden cevap. En kritik olanı ikincisi — "aktüasyon-sınırlı" ile "kestirim-sınırlı" ayrımı, çünkü ground truth kullandığımız için ölçtüğümüz sınır SADECE aktüatör kısıtlarından kaynaklanan çöküşü yakalıyor, gerçek bir lidar/EKF zincirinin ekleyeceği belirsizliği değil.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Yol haritasını dört ufuk katmanında sunuyoruz. En çok tartışma yaratacak kısım sağ üstteki "açık tasarım kararı": şu an filtre anlık kısıt ihlalini minimize ediyor, ama doygunluk rejiminde belki de terminal bir kriter (en yakın yaklaşmayı maksimize etmek) daha savunulabilir olurdu — literatürde bu net değil, bu bizim için hem bir risk hem bir fırsat.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sorular çözülmüş değil — bilerek açık bırakıldı. Özellikle ikincisi metodolojik bir boşluk: tüm kampanyalarda robotun kendi hızı sabit tutuldu, bu yüzden "hız oranı" ile "mutlak kapanma hızı" etkilerini birbirinden ayıramıyoruz. Dördüncüsü ise tüm sayısal sonuçlara bir çekince koyuyor: bildirdiğimiz kritik hızlar muhtemelen gerçek kabiliyetten daha iyimser (üst sınır).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Kapanış: bu üç cümle sunumun tamamının özeti. Vurgulanacak kelime seçimleri: "haritalandı" (ölçüldü, kanıtlandı değil), "ayrı yerlerde" (tek sınır değil), "üst sınırı vardır" (öngörü konusunda dengeli bir mesaj — ne "öngörü gereksiz" ne "öngörü her zaman iyi").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2331720"/>
            <a:ext cx="10362895" cy="2194560"/>
          </a:xfrm>
          <a:prstGeom prst="rect">
            <a:avLst/>
          </a:prstGeom>
          <a:noFill/>
          <a:ln/>
        </p:spPr>
        <p:txBody>
          <a:bodyPr wrap="square" rtlCol="0" anchor="ctr"/>
          <a:lstStyle/>
          <a:p>
            <a:pPr algn="ctr" indent="0" marL="0">
              <a:lnSpc>
                <a:spcPct val="120000"/>
              </a:lnSpc>
              <a:buNone/>
            </a:pPr>
            <a:r>
              <a:rPr lang="en-US" sz="3200" b="1" dirty="0">
                <a:solidFill>
                  <a:srgbClr val="1F3864"/>
                </a:solidFill>
                <a:latin typeface="Calibri" pitchFamily="34" charset="0"/>
                <a:ea typeface="Calibri" pitchFamily="34" charset="-122"/>
                <a:cs typeface="Calibri" pitchFamily="34" charset="-120"/>
              </a:rPr>
              <a:t>CBF-QP Güvenlik Filtreleri:</a:t>
            </a:r>
            <a:endParaRPr lang="en-US" sz="3200" dirty="0"/>
          </a:p>
          <a:p>
            <a:pPr algn="ctr" indent="0" marL="0">
              <a:lnSpc>
                <a:spcPct val="120000"/>
              </a:lnSpc>
              <a:buNone/>
            </a:pPr>
            <a:r>
              <a:rPr lang="en-US" sz="3200" b="1" dirty="0">
                <a:solidFill>
                  <a:srgbClr val="1F3864"/>
                </a:solidFill>
                <a:latin typeface="Calibri" pitchFamily="34" charset="0"/>
                <a:ea typeface="Calibri" pitchFamily="34" charset="-122"/>
                <a:cs typeface="Calibri" pitchFamily="34" charset="-120"/>
              </a:rPr>
              <a:t>Uygulanabilirlik Sınırının Deneysel Karakterizasyonu</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58368"/>
          </a:xfrm>
          <a:prstGeom prst="rect">
            <a:avLst/>
          </a:prstGeom>
          <a:noFill/>
          <a:ln/>
        </p:spPr>
        <p:txBody>
          <a:bodyPr wrap="square" rtlCol="0" anchor="t"/>
          <a:lstStyle/>
          <a:p>
            <a:pPr algn="l" indent="0" marL="0">
              <a:buNone/>
            </a:pPr>
            <a:r>
              <a:rPr lang="en-US" sz="2600" b="1" dirty="0">
                <a:solidFill>
                  <a:srgbClr val="1F3864"/>
                </a:solidFill>
                <a:latin typeface="Calibri" pitchFamily="34" charset="0"/>
                <a:ea typeface="Calibri" pitchFamily="34" charset="-122"/>
                <a:cs typeface="Calibri" pitchFamily="34" charset="-120"/>
              </a:rPr>
              <a:t>İçindekiler</a:t>
            </a:r>
            <a:endParaRPr lang="en-US" sz="2600" dirty="0"/>
          </a:p>
        </p:txBody>
      </p:sp>
      <p:sp>
        <p:nvSpPr>
          <p:cNvPr id="3" name="Text 1"/>
          <p:cNvSpPr/>
          <p:nvPr/>
        </p:nvSpPr>
        <p:spPr>
          <a:xfrm>
            <a:off x="548640" y="1874520"/>
            <a:ext cx="914400" cy="868680"/>
          </a:xfrm>
          <a:prstGeom prst="rect">
            <a:avLst/>
          </a:prstGeom>
          <a:noFill/>
          <a:ln/>
        </p:spPr>
        <p:txBody>
          <a:bodyPr wrap="square" rtlCol="0" anchor="ctr"/>
          <a:lstStyle/>
          <a:p>
            <a:pPr algn="l" indent="0" marL="0">
              <a:buNone/>
            </a:pPr>
            <a:r>
              <a:rPr lang="en-US" sz="3000" b="1" dirty="0">
                <a:solidFill>
                  <a:srgbClr val="2E74B5"/>
                </a:solidFill>
                <a:latin typeface="Calibri" pitchFamily="34" charset="0"/>
                <a:ea typeface="Calibri" pitchFamily="34" charset="-122"/>
                <a:cs typeface="Calibri" pitchFamily="34" charset="-120"/>
              </a:rPr>
              <a:t>I</a:t>
            </a:r>
            <a:endParaRPr lang="en-US" sz="3000" dirty="0"/>
          </a:p>
        </p:txBody>
      </p:sp>
      <p:sp>
        <p:nvSpPr>
          <p:cNvPr id="4" name="Text 2"/>
          <p:cNvSpPr/>
          <p:nvPr/>
        </p:nvSpPr>
        <p:spPr>
          <a:xfrm>
            <a:off x="1645920" y="1874520"/>
            <a:ext cx="7863840" cy="868680"/>
          </a:xfrm>
          <a:prstGeom prst="rect">
            <a:avLst/>
          </a:prstGeom>
          <a:noFill/>
          <a:ln/>
        </p:spPr>
        <p:txBody>
          <a:bodyPr wrap="square" rtlCol="0" anchor="ctr"/>
          <a:lstStyle/>
          <a:p>
            <a:pPr indent="0" marL="0">
              <a:buNone/>
            </a:pPr>
            <a:r>
              <a:rPr lang="en-US" sz="2000" dirty="0">
                <a:solidFill>
                  <a:srgbClr val="262626"/>
                </a:solidFill>
                <a:latin typeface="Calibri" pitchFamily="34" charset="0"/>
                <a:ea typeface="Calibri" pitchFamily="34" charset="-122"/>
                <a:cs typeface="Calibri" pitchFamily="34" charset="-120"/>
              </a:rPr>
              <a:t>Problem ve teorik çerçeve</a:t>
            </a:r>
            <a:endParaRPr lang="en-US" sz="2000" dirty="0"/>
          </a:p>
        </p:txBody>
      </p:sp>
      <p:sp>
        <p:nvSpPr>
          <p:cNvPr id="5" name="Text 3"/>
          <p:cNvSpPr/>
          <p:nvPr/>
        </p:nvSpPr>
        <p:spPr>
          <a:xfrm>
            <a:off x="9997135" y="1874520"/>
            <a:ext cx="1645920" cy="868680"/>
          </a:xfrm>
          <a:prstGeom prst="rect">
            <a:avLst/>
          </a:prstGeom>
          <a:noFill/>
          <a:ln/>
        </p:spPr>
        <p:txBody>
          <a:bodyPr wrap="square" rtlCol="0" anchor="ctr"/>
          <a:lstStyle/>
          <a:p>
            <a:pPr algn="r" indent="0" marL="0">
              <a:buNone/>
            </a:pPr>
            <a:r>
              <a:rPr lang="en-US" sz="1600" dirty="0">
                <a:solidFill>
                  <a:srgbClr val="6B6B6B"/>
                </a:solidFill>
                <a:latin typeface="Calibri" pitchFamily="34" charset="0"/>
                <a:ea typeface="Calibri" pitchFamily="34" charset="-122"/>
                <a:cs typeface="Calibri" pitchFamily="34" charset="-120"/>
              </a:rPr>
              <a:t>3–7</a:t>
            </a:r>
            <a:endParaRPr lang="en-US" sz="1600" dirty="0"/>
          </a:p>
        </p:txBody>
      </p:sp>
      <p:sp>
        <p:nvSpPr>
          <p:cNvPr id="6" name="Text 4"/>
          <p:cNvSpPr/>
          <p:nvPr/>
        </p:nvSpPr>
        <p:spPr>
          <a:xfrm>
            <a:off x="548640" y="2953512"/>
            <a:ext cx="914400" cy="868680"/>
          </a:xfrm>
          <a:prstGeom prst="rect">
            <a:avLst/>
          </a:prstGeom>
          <a:noFill/>
          <a:ln/>
        </p:spPr>
        <p:txBody>
          <a:bodyPr wrap="square" rtlCol="0" anchor="ctr"/>
          <a:lstStyle/>
          <a:p>
            <a:pPr algn="l" indent="0" marL="0">
              <a:buNone/>
            </a:pPr>
            <a:r>
              <a:rPr lang="en-US" sz="3000" b="1" dirty="0">
                <a:solidFill>
                  <a:srgbClr val="2E74B5"/>
                </a:solidFill>
                <a:latin typeface="Calibri" pitchFamily="34" charset="0"/>
                <a:ea typeface="Calibri" pitchFamily="34" charset="-122"/>
                <a:cs typeface="Calibri" pitchFamily="34" charset="-120"/>
              </a:rPr>
              <a:t>II</a:t>
            </a:r>
            <a:endParaRPr lang="en-US" sz="3000" dirty="0"/>
          </a:p>
        </p:txBody>
      </p:sp>
      <p:sp>
        <p:nvSpPr>
          <p:cNvPr id="7" name="Text 5"/>
          <p:cNvSpPr/>
          <p:nvPr/>
        </p:nvSpPr>
        <p:spPr>
          <a:xfrm>
            <a:off x="1645920" y="2953512"/>
            <a:ext cx="7863840" cy="868680"/>
          </a:xfrm>
          <a:prstGeom prst="rect">
            <a:avLst/>
          </a:prstGeom>
          <a:noFill/>
          <a:ln/>
        </p:spPr>
        <p:txBody>
          <a:bodyPr wrap="square" rtlCol="0" anchor="ctr"/>
          <a:lstStyle/>
          <a:p>
            <a:pPr indent="0" marL="0">
              <a:buNone/>
            </a:pPr>
            <a:r>
              <a:rPr lang="en-US" sz="2000" dirty="0">
                <a:solidFill>
                  <a:srgbClr val="262626"/>
                </a:solidFill>
                <a:latin typeface="Calibri" pitchFamily="34" charset="0"/>
                <a:ea typeface="Calibri" pitchFamily="34" charset="-122"/>
                <a:cs typeface="Calibri" pitchFamily="34" charset="-120"/>
              </a:rPr>
              <a:t>Mimari ve formülasyon</a:t>
            </a:r>
            <a:endParaRPr lang="en-US" sz="2000" dirty="0"/>
          </a:p>
        </p:txBody>
      </p:sp>
      <p:sp>
        <p:nvSpPr>
          <p:cNvPr id="8" name="Text 6"/>
          <p:cNvSpPr/>
          <p:nvPr/>
        </p:nvSpPr>
        <p:spPr>
          <a:xfrm>
            <a:off x="9997135" y="2953512"/>
            <a:ext cx="1645920" cy="868680"/>
          </a:xfrm>
          <a:prstGeom prst="rect">
            <a:avLst/>
          </a:prstGeom>
          <a:noFill/>
          <a:ln/>
        </p:spPr>
        <p:txBody>
          <a:bodyPr wrap="square" rtlCol="0" anchor="ctr"/>
          <a:lstStyle/>
          <a:p>
            <a:pPr algn="r" indent="0" marL="0">
              <a:buNone/>
            </a:pPr>
            <a:r>
              <a:rPr lang="en-US" sz="1600" dirty="0">
                <a:solidFill>
                  <a:srgbClr val="6B6B6B"/>
                </a:solidFill>
                <a:latin typeface="Calibri" pitchFamily="34" charset="0"/>
                <a:ea typeface="Calibri" pitchFamily="34" charset="-122"/>
                <a:cs typeface="Calibri" pitchFamily="34" charset="-120"/>
              </a:rPr>
              <a:t>8–10</a:t>
            </a:r>
            <a:endParaRPr lang="en-US" sz="1600" dirty="0"/>
          </a:p>
        </p:txBody>
      </p:sp>
      <p:sp>
        <p:nvSpPr>
          <p:cNvPr id="9" name="Text 7"/>
          <p:cNvSpPr/>
          <p:nvPr/>
        </p:nvSpPr>
        <p:spPr>
          <a:xfrm>
            <a:off x="548640" y="4032504"/>
            <a:ext cx="914400" cy="868680"/>
          </a:xfrm>
          <a:prstGeom prst="rect">
            <a:avLst/>
          </a:prstGeom>
          <a:noFill/>
          <a:ln/>
        </p:spPr>
        <p:txBody>
          <a:bodyPr wrap="square" rtlCol="0" anchor="ctr"/>
          <a:lstStyle/>
          <a:p>
            <a:pPr algn="l" indent="0" marL="0">
              <a:buNone/>
            </a:pPr>
            <a:r>
              <a:rPr lang="en-US" sz="3000" b="1" dirty="0">
                <a:solidFill>
                  <a:srgbClr val="2E74B5"/>
                </a:solidFill>
                <a:latin typeface="Calibri" pitchFamily="34" charset="0"/>
                <a:ea typeface="Calibri" pitchFamily="34" charset="-122"/>
                <a:cs typeface="Calibri" pitchFamily="34" charset="-120"/>
              </a:rPr>
              <a:t>III</a:t>
            </a:r>
            <a:endParaRPr lang="en-US" sz="3000" dirty="0"/>
          </a:p>
        </p:txBody>
      </p:sp>
      <p:sp>
        <p:nvSpPr>
          <p:cNvPr id="10" name="Text 8"/>
          <p:cNvSpPr/>
          <p:nvPr/>
        </p:nvSpPr>
        <p:spPr>
          <a:xfrm>
            <a:off x="1645920" y="4032504"/>
            <a:ext cx="7863840" cy="868680"/>
          </a:xfrm>
          <a:prstGeom prst="rect">
            <a:avLst/>
          </a:prstGeom>
          <a:noFill/>
          <a:ln/>
        </p:spPr>
        <p:txBody>
          <a:bodyPr wrap="square" rtlCol="0" anchor="ctr"/>
          <a:lstStyle/>
          <a:p>
            <a:pPr indent="0" marL="0">
              <a:buNone/>
            </a:pPr>
            <a:r>
              <a:rPr lang="en-US" sz="2000" dirty="0">
                <a:solidFill>
                  <a:srgbClr val="262626"/>
                </a:solidFill>
                <a:latin typeface="Calibri" pitchFamily="34" charset="0"/>
                <a:ea typeface="Calibri" pitchFamily="34" charset="-122"/>
                <a:cs typeface="Calibri" pitchFamily="34" charset="-120"/>
              </a:rPr>
              <a:t>Deneysel karakterizasyon</a:t>
            </a:r>
            <a:endParaRPr lang="en-US" sz="2000" dirty="0"/>
          </a:p>
        </p:txBody>
      </p:sp>
      <p:sp>
        <p:nvSpPr>
          <p:cNvPr id="11" name="Text 9"/>
          <p:cNvSpPr/>
          <p:nvPr/>
        </p:nvSpPr>
        <p:spPr>
          <a:xfrm>
            <a:off x="9997135" y="4032504"/>
            <a:ext cx="1645920" cy="868680"/>
          </a:xfrm>
          <a:prstGeom prst="rect">
            <a:avLst/>
          </a:prstGeom>
          <a:noFill/>
          <a:ln/>
        </p:spPr>
        <p:txBody>
          <a:bodyPr wrap="square" rtlCol="0" anchor="ctr"/>
          <a:lstStyle/>
          <a:p>
            <a:pPr algn="r" indent="0" marL="0">
              <a:buNone/>
            </a:pPr>
            <a:r>
              <a:rPr lang="en-US" sz="1600" dirty="0">
                <a:solidFill>
                  <a:srgbClr val="6B6B6B"/>
                </a:solidFill>
                <a:latin typeface="Calibri" pitchFamily="34" charset="0"/>
                <a:ea typeface="Calibri" pitchFamily="34" charset="-122"/>
                <a:cs typeface="Calibri" pitchFamily="34" charset="-120"/>
              </a:rPr>
              <a:t>11–14</a:t>
            </a:r>
            <a:endParaRPr lang="en-US" sz="1600" dirty="0"/>
          </a:p>
        </p:txBody>
      </p:sp>
      <p:sp>
        <p:nvSpPr>
          <p:cNvPr id="12" name="Text 10"/>
          <p:cNvSpPr/>
          <p:nvPr/>
        </p:nvSpPr>
        <p:spPr>
          <a:xfrm>
            <a:off x="548640" y="5111496"/>
            <a:ext cx="914400" cy="868680"/>
          </a:xfrm>
          <a:prstGeom prst="rect">
            <a:avLst/>
          </a:prstGeom>
          <a:noFill/>
          <a:ln/>
        </p:spPr>
        <p:txBody>
          <a:bodyPr wrap="square" rtlCol="0" anchor="ctr"/>
          <a:lstStyle/>
          <a:p>
            <a:pPr algn="l" indent="0" marL="0">
              <a:buNone/>
            </a:pPr>
            <a:r>
              <a:rPr lang="en-US" sz="3000" b="1" dirty="0">
                <a:solidFill>
                  <a:srgbClr val="2E74B5"/>
                </a:solidFill>
                <a:latin typeface="Calibri" pitchFamily="34" charset="0"/>
                <a:ea typeface="Calibri" pitchFamily="34" charset="-122"/>
                <a:cs typeface="Calibri" pitchFamily="34" charset="-120"/>
              </a:rPr>
              <a:t>IV</a:t>
            </a:r>
            <a:endParaRPr lang="en-US" sz="3000" dirty="0"/>
          </a:p>
        </p:txBody>
      </p:sp>
      <p:sp>
        <p:nvSpPr>
          <p:cNvPr id="13" name="Text 11"/>
          <p:cNvSpPr/>
          <p:nvPr/>
        </p:nvSpPr>
        <p:spPr>
          <a:xfrm>
            <a:off x="1645920" y="5111496"/>
            <a:ext cx="7863840" cy="868680"/>
          </a:xfrm>
          <a:prstGeom prst="rect">
            <a:avLst/>
          </a:prstGeom>
          <a:noFill/>
          <a:ln/>
        </p:spPr>
        <p:txBody>
          <a:bodyPr wrap="square" rtlCol="0" anchor="ctr"/>
          <a:lstStyle/>
          <a:p>
            <a:pPr indent="0" marL="0">
              <a:buNone/>
            </a:pPr>
            <a:r>
              <a:rPr lang="en-US" sz="2000" dirty="0">
                <a:solidFill>
                  <a:srgbClr val="262626"/>
                </a:solidFill>
                <a:latin typeface="Calibri" pitchFamily="34" charset="0"/>
                <a:ea typeface="Calibri" pitchFamily="34" charset="-122"/>
                <a:cs typeface="Calibri" pitchFamily="34" charset="-120"/>
              </a:rPr>
              <a:t>Yol haritası</a:t>
            </a:r>
            <a:endParaRPr lang="en-US" sz="2000" dirty="0"/>
          </a:p>
        </p:txBody>
      </p:sp>
      <p:sp>
        <p:nvSpPr>
          <p:cNvPr id="14" name="Text 12"/>
          <p:cNvSpPr/>
          <p:nvPr/>
        </p:nvSpPr>
        <p:spPr>
          <a:xfrm>
            <a:off x="9997135" y="5111496"/>
            <a:ext cx="1645920" cy="868680"/>
          </a:xfrm>
          <a:prstGeom prst="rect">
            <a:avLst/>
          </a:prstGeom>
          <a:noFill/>
          <a:ln/>
        </p:spPr>
        <p:txBody>
          <a:bodyPr wrap="square" rtlCol="0" anchor="ctr"/>
          <a:lstStyle/>
          <a:p>
            <a:pPr algn="r" indent="0" marL="0">
              <a:buNone/>
            </a:pPr>
            <a:r>
              <a:rPr lang="en-US" sz="1600" dirty="0">
                <a:solidFill>
                  <a:srgbClr val="6B6B6B"/>
                </a:solidFill>
                <a:latin typeface="Calibri" pitchFamily="34" charset="0"/>
                <a:ea typeface="Calibri" pitchFamily="34" charset="-122"/>
                <a:cs typeface="Calibri" pitchFamily="34" charset="-120"/>
              </a:rPr>
              <a:t>15–17</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58368"/>
          </a:xfrm>
          <a:prstGeom prst="rect">
            <a:avLst/>
          </a:prstGeom>
          <a:noFill/>
          <a:ln/>
        </p:spPr>
        <p:txBody>
          <a:bodyPr wrap="square" rtlCol="0" anchor="t"/>
          <a:lstStyle/>
          <a:p>
            <a:pPr algn="l" indent="0" marL="0">
              <a:buNone/>
            </a:pPr>
            <a:r>
              <a:rPr lang="en-US" sz="2600" b="1" dirty="0">
                <a:solidFill>
                  <a:srgbClr val="1F3864"/>
                </a:solidFill>
                <a:latin typeface="Calibri" pitchFamily="34" charset="0"/>
                <a:ea typeface="Calibri" pitchFamily="34" charset="-122"/>
                <a:cs typeface="Calibri" pitchFamily="34" charset="-120"/>
              </a:rPr>
              <a:t>Problem Tanımı</a:t>
            </a:r>
            <a:endParaRPr lang="en-US" sz="2600" dirty="0"/>
          </a:p>
        </p:txBody>
      </p:sp>
      <p:sp>
        <p:nvSpPr>
          <p:cNvPr id="3" name="Text 1"/>
          <p:cNvSpPr/>
          <p:nvPr/>
        </p:nvSpPr>
        <p:spPr>
          <a:xfrm>
            <a:off x="548640" y="1207008"/>
            <a:ext cx="11094415" cy="411480"/>
          </a:xfrm>
          <a:prstGeom prst="rect">
            <a:avLst/>
          </a:prstGeom>
          <a:noFill/>
          <a:ln/>
        </p:spPr>
        <p:txBody>
          <a:bodyPr wrap="square" rtlCol="0" anchor="t"/>
          <a:lstStyle/>
          <a:p>
            <a:pPr algn="l" indent="0" marL="0">
              <a:lnSpc>
                <a:spcPct val="118000"/>
              </a:lnSpc>
              <a:buNone/>
            </a:pPr>
            <a:r>
              <a:rPr lang="en-US" sz="1600" dirty="0">
                <a:solidFill>
                  <a:srgbClr val="262626"/>
                </a:solidFill>
                <a:latin typeface="Calibri" pitchFamily="34" charset="0"/>
                <a:ea typeface="Calibri" pitchFamily="34" charset="-122"/>
                <a:cs typeface="Calibri" pitchFamily="34" charset="-120"/>
              </a:rPr>
              <a:t>Platform: TurtleBot3 Burger, diferansiyel sürüş, ROS 2 / Gazebo.</a:t>
            </a:r>
            <a:endParaRPr lang="en-US" sz="1600" dirty="0"/>
          </a:p>
        </p:txBody>
      </p:sp>
      <p:sp>
        <p:nvSpPr>
          <p:cNvPr id="4" name="Shape 2"/>
          <p:cNvSpPr/>
          <p:nvPr/>
        </p:nvSpPr>
        <p:spPr>
          <a:xfrm>
            <a:off x="548640" y="1737360"/>
            <a:ext cx="11094415" cy="1319022"/>
          </a:xfrm>
          <a:prstGeom prst="rect">
            <a:avLst/>
          </a:prstGeom>
          <a:solidFill>
            <a:srgbClr val="F2F2F2"/>
          </a:solidFill>
          <a:ln w="9525">
            <a:solidFill>
              <a:srgbClr val="D9D9D9"/>
            </a:solidFill>
            <a:prstDash val="solid"/>
          </a:ln>
        </p:spPr>
      </p:sp>
      <p:sp>
        <p:nvSpPr>
          <p:cNvPr id="5" name="Text 3"/>
          <p:cNvSpPr/>
          <p:nvPr/>
        </p:nvSpPr>
        <p:spPr>
          <a:xfrm>
            <a:off x="731520" y="1828800"/>
            <a:ext cx="10728655" cy="1136142"/>
          </a:xfrm>
          <a:prstGeom prst="rect">
            <a:avLst/>
          </a:prstGeom>
          <a:noFill/>
          <a:ln/>
        </p:spPr>
        <p:txBody>
          <a:bodyPr wrap="square" rtlCol="0" anchor="t"/>
          <a:lstStyle/>
          <a:p>
            <a:pPr indent="0" marL="0">
              <a:lnSpc>
                <a:spcPct val="108000"/>
              </a:lnSpc>
              <a:buNone/>
            </a:pPr>
            <a:r>
              <a:rPr lang="en-US" sz="1550" dirty="0">
                <a:solidFill>
                  <a:srgbClr val="262626"/>
                </a:solidFill>
                <a:latin typeface="Consolas" pitchFamily="34" charset="0"/>
                <a:ea typeface="Consolas" pitchFamily="34" charset="-122"/>
                <a:cs typeface="Consolas" pitchFamily="34" charset="-120"/>
              </a:rPr>
              <a:t>v_max = 0.22 m/s          ω_max = 2.84 rad/s</a:t>
            </a:r>
            <a:endParaRPr lang="en-US" sz="1550" dirty="0"/>
          </a:p>
          <a:p>
            <a:pPr indent="0" marL="0">
              <a:lnSpc>
                <a:spcPct val="108000"/>
              </a:lnSpc>
              <a:buNone/>
            </a:pPr>
            <a:r>
              <a:rPr lang="en-US" sz="1550" dirty="0">
                <a:solidFill>
                  <a:srgbClr val="262626"/>
                </a:solidFill>
                <a:latin typeface="Consolas" pitchFamily="34" charset="0"/>
                <a:ea typeface="Consolas" pitchFamily="34" charset="-122"/>
                <a:cs typeface="Consolas" pitchFamily="34" charset="-120"/>
              </a:rPr>
              <a:t>robot yarıçapı = 0.1237 m (URDF, en kötü köşe)</a:t>
            </a:r>
            <a:endParaRPr lang="en-US" sz="1550" dirty="0"/>
          </a:p>
          <a:p>
            <a:pPr indent="0" marL="0">
              <a:lnSpc>
                <a:spcPct val="108000"/>
              </a:lnSpc>
              <a:buNone/>
            </a:pPr>
            <a:r>
              <a:rPr lang="en-US" sz="1550" dirty="0">
                <a:solidFill>
                  <a:srgbClr val="262626"/>
                </a:solidFill>
                <a:latin typeface="Consolas" pitchFamily="34" charset="0"/>
                <a:ea typeface="Consolas" pitchFamily="34" charset="-122"/>
                <a:cs typeface="Consolas" pitchFamily="34" charset="-120"/>
              </a:rPr>
              <a:t>engel yarıçapı = 0.25 m</a:t>
            </a:r>
            <a:endParaRPr lang="en-US" sz="1550" dirty="0"/>
          </a:p>
          <a:p>
            <a:pPr indent="0" marL="0">
              <a:lnSpc>
                <a:spcPct val="108000"/>
              </a:lnSpc>
              <a:buNone/>
            </a:pPr>
            <a:r>
              <a:rPr lang="en-US" sz="1550" dirty="0">
                <a:solidFill>
                  <a:srgbClr val="262626"/>
                </a:solidFill>
                <a:latin typeface="Consolas" pitchFamily="34" charset="0"/>
                <a:ea typeface="Consolas" pitchFamily="34" charset="-122"/>
                <a:cs typeface="Consolas" pitchFamily="34" charset="-120"/>
              </a:rPr>
              <a:t>temas mesafesi = 0.3737 m (merkez–merkez)</a:t>
            </a:r>
            <a:endParaRPr lang="en-US" sz="1550" dirty="0"/>
          </a:p>
        </p:txBody>
      </p:sp>
      <p:sp>
        <p:nvSpPr>
          <p:cNvPr id="6" name="Text 4"/>
          <p:cNvSpPr/>
          <p:nvPr/>
        </p:nvSpPr>
        <p:spPr>
          <a:xfrm>
            <a:off x="548640" y="3246120"/>
            <a:ext cx="11094415" cy="502920"/>
          </a:xfrm>
          <a:prstGeom prst="rect">
            <a:avLst/>
          </a:prstGeom>
          <a:noFill/>
          <a:ln/>
        </p:spPr>
        <p:txBody>
          <a:bodyPr wrap="square" rtlCol="0" anchor="t"/>
          <a:lstStyle/>
          <a:p>
            <a:pPr algn="l" indent="0" marL="0">
              <a:lnSpc>
                <a:spcPct val="118000"/>
              </a:lnSpc>
              <a:buNone/>
            </a:pPr>
            <a:r>
              <a:rPr lang="en-US" sz="1900" b="1" dirty="0">
                <a:solidFill>
                  <a:srgbClr val="2E74B5"/>
                </a:solidFill>
                <a:latin typeface="Calibri" pitchFamily="34" charset="0"/>
                <a:ea typeface="Calibri" pitchFamily="34" charset="-122"/>
                <a:cs typeface="Calibri" pitchFamily="34" charset="-120"/>
              </a:rPr>
              <a:t>Engel hızları 0.4–1.4 m/s  →  hız oranı 1.8× – 6.4×</a:t>
            </a:r>
            <a:endParaRPr lang="en-US" sz="1900" dirty="0"/>
          </a:p>
        </p:txBody>
      </p:sp>
      <p:sp>
        <p:nvSpPr>
          <p:cNvPr id="7" name="Text 5"/>
          <p:cNvSpPr/>
          <p:nvPr/>
        </p:nvSpPr>
        <p:spPr>
          <a:xfrm>
            <a:off x="548640" y="3886200"/>
            <a:ext cx="11094415" cy="1371600"/>
          </a:xfrm>
          <a:prstGeom prst="rect">
            <a:avLst/>
          </a:prstGeom>
          <a:noFill/>
          <a:ln/>
        </p:spPr>
        <p:txBody>
          <a:bodyPr wrap="square" rtlCol="0" anchor="t"/>
          <a:lstStyle/>
          <a:p>
            <a:pPr algn="l" indent="0" marL="0">
              <a:lnSpc>
                <a:spcPct val="118000"/>
              </a:lnSpc>
              <a:buNone/>
            </a:pPr>
            <a:r>
              <a:rPr lang="en-US" sz="1650" dirty="0">
                <a:solidFill>
                  <a:srgbClr val="262626"/>
                </a:solidFill>
                <a:latin typeface="Calibri" pitchFamily="34" charset="0"/>
                <a:ea typeface="Calibri" pitchFamily="34" charset="-122"/>
                <a:cs typeface="Calibri" pitchFamily="34" charset="-120"/>
              </a:rPr>
              <a:t>Bu rejimde robot engeli geçemez veya savuşamaz; yalnızca doğru anda doğru yerde olmamayı başarabilir. Soru: güvenlik filtresi bunu ne zaman başarabiliyor, ne zaman aktüatör limitleri yüzünden başaramıyor?</a:t>
            </a:r>
            <a:endParaRPr lang="en-US" sz="1650" dirty="0"/>
          </a:p>
        </p:txBody>
      </p:sp>
      <p:sp>
        <p:nvSpPr>
          <p:cNvPr id="8" name="Shape 6"/>
          <p:cNvSpPr/>
          <p:nvPr/>
        </p:nvSpPr>
        <p:spPr>
          <a:xfrm>
            <a:off x="548640" y="5440680"/>
            <a:ext cx="11094415" cy="685800"/>
          </a:xfrm>
          <a:prstGeom prst="roundRect">
            <a:avLst>
              <a:gd name="adj" fmla="val 6667"/>
            </a:avLst>
          </a:prstGeom>
          <a:solidFill>
            <a:srgbClr val="F2F2F2"/>
          </a:solidFill>
          <a:ln w="12700">
            <a:solidFill>
              <a:srgbClr val="D9D9D9"/>
            </a:solidFill>
            <a:prstDash val="solid"/>
          </a:ln>
        </p:spPr>
      </p:sp>
      <p:sp>
        <p:nvSpPr>
          <p:cNvPr id="9" name="Text 7"/>
          <p:cNvSpPr/>
          <p:nvPr/>
        </p:nvSpPr>
        <p:spPr>
          <a:xfrm>
            <a:off x="749808" y="5513832"/>
            <a:ext cx="10692079" cy="539496"/>
          </a:xfrm>
          <a:prstGeom prst="rect">
            <a:avLst/>
          </a:prstGeom>
          <a:noFill/>
          <a:ln/>
        </p:spPr>
        <p:txBody>
          <a:bodyPr wrap="square" rtlCol="0" anchor="ctr"/>
          <a:lstStyle/>
          <a:p>
            <a:pPr indent="0" marL="0">
              <a:lnSpc>
                <a:spcPct val="112000"/>
              </a:lnSpc>
              <a:buNone/>
            </a:pPr>
            <a:r>
              <a:rPr lang="en-US" sz="1450" i="1" dirty="0">
                <a:solidFill>
                  <a:srgbClr val="6B6B6B"/>
                </a:solidFill>
                <a:latin typeface="Calibri" pitchFamily="34" charset="0"/>
                <a:ea typeface="Calibri" pitchFamily="34" charset="-122"/>
                <a:cs typeface="Calibri" pitchFamily="34" charset="-120"/>
              </a:rPr>
              <a:t>ICS (Inevitable Collision States) çerçevesinin girdi-kısıtlı bir platformdaki nicel karşılığı.</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58368"/>
          </a:xfrm>
          <a:prstGeom prst="rect">
            <a:avLst/>
          </a:prstGeom>
          <a:noFill/>
          <a:ln/>
        </p:spPr>
        <p:txBody>
          <a:bodyPr wrap="square" rtlCol="0" anchor="t"/>
          <a:lstStyle/>
          <a:p>
            <a:pPr algn="l" indent="0" marL="0">
              <a:buNone/>
            </a:pPr>
            <a:r>
              <a:rPr lang="en-US" sz="2600" b="1" dirty="0">
                <a:solidFill>
                  <a:srgbClr val="1F3864"/>
                </a:solidFill>
                <a:latin typeface="Calibri" pitchFamily="34" charset="0"/>
                <a:ea typeface="Calibri" pitchFamily="34" charset="-122"/>
                <a:cs typeface="Calibri" pitchFamily="34" charset="-120"/>
              </a:rPr>
              <a:t>Teorik Çerçeve: CBF ve Lyapunov</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5547208"/>
                <a:gridCol w="5547208"/>
              </a:tblGrid>
              <a:tr h="0">
                <a:tc>
                  <a:txBody>
                    <a:bodyPr/>
                    <a:lstStyle/>
                    <a:p>
                      <a:pPr algn="ctr" indent="0" marL="0">
                        <a:buNone/>
                      </a:pPr>
                      <a:r>
                        <a:rPr lang="en-US" sz="1500" b="1" dirty="0">
                          <a:solidFill>
                            <a:srgbClr val="1F3864"/>
                          </a:solidFill>
                          <a:latin typeface="Calibri" pitchFamily="34" charset="0"/>
                          <a:ea typeface="Calibri" pitchFamily="34" charset="-122"/>
                          <a:cs typeface="Calibri" pitchFamily="34" charset="-120"/>
                        </a:rPr>
                        <a:t>LYAPUNOV (CLF)</a:t>
                      </a:r>
                      <a:endParaRPr lang="en-US" sz="150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EEBF7"/>
                    </a:solidFill>
                  </a:tcPr>
                </a:tc>
                <a:tc>
                  <a:txBody>
                    <a:bodyPr/>
                    <a:lstStyle/>
                    <a:p>
                      <a:pPr algn="ctr" indent="0" marL="0">
                        <a:buNone/>
                      </a:pPr>
                      <a:r>
                        <a:rPr lang="en-US" sz="1500" b="1" dirty="0">
                          <a:solidFill>
                            <a:srgbClr val="1F3864"/>
                          </a:solidFill>
                          <a:latin typeface="Calibri" pitchFamily="34" charset="0"/>
                          <a:ea typeface="Calibri" pitchFamily="34" charset="-122"/>
                          <a:cs typeface="Calibri" pitchFamily="34" charset="-120"/>
                        </a:rPr>
                        <a:t>CBF</a:t>
                      </a:r>
                      <a:endParaRPr lang="en-US" sz="150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EEBF7"/>
                    </a:solidFill>
                  </a:tcPr>
                </a:tc>
              </a:tr>
              <a:tr h="0">
                <a:tc>
                  <a:txBody>
                    <a:bodyPr/>
                    <a:lstStyle/>
                    <a:p>
                      <a:pPr indent="0" marL="0">
                        <a:buNone/>
                      </a:pPr>
                      <a:r>
                        <a:rPr lang="en-US" sz="1500" dirty="0">
                          <a:solidFill>
                            <a:srgbClr val="262626"/>
                          </a:solidFill>
                          <a:latin typeface="Calibri" pitchFamily="34" charset="0"/>
                          <a:ea typeface="Calibri" pitchFamily="34" charset="-122"/>
                          <a:cs typeface="Calibri" pitchFamily="34" charset="-120"/>
                        </a:rPr>
                        <a:t>V(x) &gt; 0</a:t>
                      </a:r>
                      <a:endParaRPr lang="en-US" sz="150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62626"/>
                          </a:solidFill>
                          <a:latin typeface="Calibri" pitchFamily="34" charset="0"/>
                          <a:ea typeface="Calibri" pitchFamily="34" charset="-122"/>
                          <a:cs typeface="Calibri" pitchFamily="34" charset="-120"/>
                        </a:rPr>
                        <a:t>h(x) ≥ 0,   C = {x : h(x) ≥ 0}</a:t>
                      </a:r>
                      <a:endParaRPr lang="en-US" sz="150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0">
                <a:tc>
                  <a:txBody>
                    <a:bodyPr/>
                    <a:lstStyle/>
                    <a:p>
                      <a:pPr indent="0" marL="0">
                        <a:buNone/>
                      </a:pPr>
                      <a:r>
                        <a:rPr lang="en-US" sz="1500" dirty="0">
                          <a:solidFill>
                            <a:srgbClr val="262626"/>
                          </a:solidFill>
                          <a:latin typeface="Calibri" pitchFamily="34" charset="0"/>
                          <a:ea typeface="Calibri" pitchFamily="34" charset="-122"/>
                          <a:cs typeface="Calibri" pitchFamily="34" charset="-120"/>
                        </a:rPr>
                        <a:t>V̇ ≤ −γ·V</a:t>
                      </a:r>
                      <a:endParaRPr lang="en-US" sz="150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62626"/>
                          </a:solidFill>
                          <a:latin typeface="Calibri" pitchFamily="34" charset="0"/>
                          <a:ea typeface="Calibri" pitchFamily="34" charset="-122"/>
                          <a:cs typeface="Calibri" pitchFamily="34" charset="-120"/>
                        </a:rPr>
                        <a:t>ḣ ≥ −α(h)</a:t>
                      </a:r>
                      <a:endParaRPr lang="en-US" sz="150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0">
                <a:tc>
                  <a:txBody>
                    <a:bodyPr/>
                    <a:lstStyle/>
                    <a:p>
                      <a:pPr indent="0" marL="0">
                        <a:buNone/>
                      </a:pPr>
                      <a:r>
                        <a:rPr lang="en-US" sz="1500" dirty="0">
                          <a:solidFill>
                            <a:srgbClr val="262626"/>
                          </a:solidFill>
                          <a:latin typeface="Calibri" pitchFamily="34" charset="0"/>
                          <a:ea typeface="Calibri" pitchFamily="34" charset="-122"/>
                          <a:cs typeface="Calibri" pitchFamily="34" charset="-120"/>
                        </a:rPr>
                        <a:t>her yerde monoton azalma</a:t>
                      </a:r>
                      <a:endParaRPr lang="en-US" sz="150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62626"/>
                          </a:solidFill>
                          <a:latin typeface="Calibri" pitchFamily="34" charset="0"/>
                          <a:ea typeface="Calibri" pitchFamily="34" charset="-122"/>
                          <a:cs typeface="Calibri" pitchFamily="34" charset="-120"/>
                        </a:rPr>
                        <a:t>yalnızca sınıra yakın bağlar</a:t>
                      </a:r>
                      <a:endParaRPr lang="en-US" sz="150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0">
                <a:tc>
                  <a:txBody>
                    <a:bodyPr/>
                    <a:lstStyle/>
                    <a:p>
                      <a:pPr indent="0" marL="0">
                        <a:buNone/>
                      </a:pPr>
                      <a:r>
                        <a:rPr lang="en-US" sz="1500" dirty="0">
                          <a:solidFill>
                            <a:srgbClr val="262626"/>
                          </a:solidFill>
                          <a:latin typeface="Calibri" pitchFamily="34" charset="0"/>
                          <a:ea typeface="Calibri" pitchFamily="34" charset="-122"/>
                          <a:cs typeface="Calibri" pitchFamily="34" charset="-120"/>
                        </a:rPr>
                        <a:t>iddia: hedefe yakınsar</a:t>
                      </a:r>
                      <a:endParaRPr lang="en-US" sz="150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62626"/>
                          </a:solidFill>
                          <a:latin typeface="Calibri" pitchFamily="34" charset="0"/>
                          <a:ea typeface="Calibri" pitchFamily="34" charset="-122"/>
                          <a:cs typeface="Calibri" pitchFamily="34" charset="-120"/>
                        </a:rPr>
                        <a:t>iddia: güvenli kümeden çıkmaz</a:t>
                      </a:r>
                      <a:endParaRPr lang="en-US" sz="150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0">
                <a:tc>
                  <a:txBody>
                    <a:bodyPr/>
                    <a:lstStyle/>
                    <a:p>
                      <a:pPr indent="0" marL="0">
                        <a:buNone/>
                      </a:pPr>
                      <a:r>
                        <a:rPr lang="en-US" sz="1500" dirty="0">
                          <a:solidFill>
                            <a:srgbClr val="262626"/>
                          </a:solidFill>
                          <a:latin typeface="Calibri" pitchFamily="34" charset="0"/>
                          <a:ea typeface="Calibri" pitchFamily="34" charset="-122"/>
                          <a:cs typeface="Calibri" pitchFamily="34" charset="-120"/>
                        </a:rPr>
                        <a:t>attractivity</a:t>
                      </a:r>
                      <a:endParaRPr lang="en-US" sz="150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62626"/>
                          </a:solidFill>
                          <a:latin typeface="Calibri" pitchFamily="34" charset="0"/>
                          <a:ea typeface="Calibri" pitchFamily="34" charset="-122"/>
                          <a:cs typeface="Calibri" pitchFamily="34" charset="-120"/>
                        </a:rPr>
                        <a:t>forward invariance</a:t>
                      </a:r>
                      <a:endParaRPr lang="en-US" sz="150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0">
                <a:tc>
                  <a:txBody>
                    <a:bodyPr/>
                    <a:lstStyle/>
                    <a:p>
                      <a:pPr indent="0" marL="0">
                        <a:buNone/>
                      </a:pPr>
                      <a:r>
                        <a:rPr lang="en-US" sz="1500" dirty="0">
                          <a:solidFill>
                            <a:srgbClr val="262626"/>
                          </a:solidFill>
                          <a:latin typeface="Calibri" pitchFamily="34" charset="0"/>
                          <a:ea typeface="Calibri" pitchFamily="34" charset="-122"/>
                          <a:cs typeface="Calibri" pitchFamily="34" charset="-120"/>
                        </a:rPr>
                        <a:t>tek bir davranış dayatır</a:t>
                      </a:r>
                      <a:endParaRPr lang="en-US" sz="150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262626"/>
                          </a:solidFill>
                          <a:latin typeface="Calibri" pitchFamily="34" charset="0"/>
                          <a:ea typeface="Calibri" pitchFamily="34" charset="-122"/>
                          <a:cs typeface="Calibri" pitchFamily="34" charset="-120"/>
                        </a:rPr>
                        <a:t>tek taraflı, gerisi serbest</a:t>
                      </a:r>
                      <a:endParaRPr lang="en-US" sz="150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 name="Text 1"/>
          <p:cNvSpPr/>
          <p:nvPr/>
        </p:nvSpPr>
        <p:spPr>
          <a:xfrm>
            <a:off x="548640" y="4892040"/>
            <a:ext cx="11094415" cy="594360"/>
          </a:xfrm>
          <a:prstGeom prst="rect">
            <a:avLst/>
          </a:prstGeom>
          <a:noFill/>
          <a:ln/>
        </p:spPr>
        <p:txBody>
          <a:bodyPr wrap="square" rtlCol="0" anchor="t"/>
          <a:lstStyle/>
          <a:p>
            <a:pPr algn="l" indent="0" marL="0">
              <a:lnSpc>
                <a:spcPct val="118000"/>
              </a:lnSpc>
              <a:buNone/>
            </a:pPr>
            <a:r>
              <a:rPr lang="en-US" sz="1550" dirty="0">
                <a:solidFill>
                  <a:srgbClr val="262626"/>
                </a:solidFill>
                <a:latin typeface="Calibri" pitchFamily="34" charset="0"/>
                <a:ea typeface="Calibri" pitchFamily="34" charset="-122"/>
                <a:cs typeface="Calibri" pitchFamily="34" charset="-120"/>
              </a:rPr>
              <a:t>α·h terimi: h sıfıra yaklaştıkça izin verilen azalma hızı da sıfıra yaklaşır → küme ileri değişmez.</a:t>
            </a:r>
            <a:endParaRPr lang="en-US" sz="1550" dirty="0"/>
          </a:p>
        </p:txBody>
      </p:sp>
      <p:sp>
        <p:nvSpPr>
          <p:cNvPr id="5" name="Shape 2"/>
          <p:cNvSpPr/>
          <p:nvPr/>
        </p:nvSpPr>
        <p:spPr>
          <a:xfrm>
            <a:off x="548640" y="5577840"/>
            <a:ext cx="11094415" cy="685800"/>
          </a:xfrm>
          <a:prstGeom prst="roundRect">
            <a:avLst>
              <a:gd name="adj" fmla="val 6667"/>
            </a:avLst>
          </a:prstGeom>
          <a:solidFill>
            <a:srgbClr val="DEEBF7"/>
          </a:solidFill>
          <a:ln w="12700">
            <a:solidFill>
              <a:srgbClr val="2E74B5"/>
            </a:solidFill>
            <a:prstDash val="solid"/>
          </a:ln>
        </p:spPr>
      </p:sp>
      <p:sp>
        <p:nvSpPr>
          <p:cNvPr id="6" name="Text 3"/>
          <p:cNvSpPr/>
          <p:nvPr/>
        </p:nvSpPr>
        <p:spPr>
          <a:xfrm>
            <a:off x="749808" y="5650992"/>
            <a:ext cx="10692079" cy="539496"/>
          </a:xfrm>
          <a:prstGeom prst="rect">
            <a:avLst/>
          </a:prstGeom>
          <a:noFill/>
          <a:ln/>
        </p:spPr>
        <p:txBody>
          <a:bodyPr wrap="square" rtlCol="0" anchor="ctr"/>
          <a:lstStyle/>
          <a:p>
            <a:pPr indent="0" marL="0">
              <a:lnSpc>
                <a:spcPct val="112000"/>
              </a:lnSpc>
              <a:buNone/>
            </a:pPr>
            <a:r>
              <a:rPr lang="en-US" sz="1500" dirty="0">
                <a:solidFill>
                  <a:srgbClr val="1F3864"/>
                </a:solidFill>
                <a:latin typeface="Calibri" pitchFamily="34" charset="0"/>
                <a:ea typeface="Calibri" pitchFamily="34" charset="-122"/>
                <a:cs typeface="Calibri" pitchFamily="34" charset="-120"/>
              </a:rPr>
              <a:t>Bu tek taraflılık, filtrenin "asgari müdahaleci" olabilmesinin sebebidir: CBF tercih bildirmez, yalnızca veto hakkı kullanır.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58368"/>
          </a:xfrm>
          <a:prstGeom prst="rect">
            <a:avLst/>
          </a:prstGeom>
          <a:noFill/>
          <a:ln/>
        </p:spPr>
        <p:txBody>
          <a:bodyPr wrap="square" rtlCol="0" anchor="t"/>
          <a:lstStyle/>
          <a:p>
            <a:pPr algn="l" indent="0" marL="0">
              <a:buNone/>
            </a:pPr>
            <a:r>
              <a:rPr lang="en-US" sz="2600" b="1" dirty="0">
                <a:solidFill>
                  <a:srgbClr val="1F3864"/>
                </a:solidFill>
                <a:latin typeface="Calibri" pitchFamily="34" charset="0"/>
                <a:ea typeface="Calibri" pitchFamily="34" charset="-122"/>
                <a:cs typeface="Calibri" pitchFamily="34" charset="-120"/>
              </a:rPr>
              <a:t>Türetme Zinciri: Kümeden QP'ye</a:t>
            </a:r>
            <a:endParaRPr lang="en-US" sz="2600" dirty="0"/>
          </a:p>
        </p:txBody>
      </p:sp>
      <p:sp>
        <p:nvSpPr>
          <p:cNvPr id="3" name="Shape 1"/>
          <p:cNvSpPr/>
          <p:nvPr/>
        </p:nvSpPr>
        <p:spPr>
          <a:xfrm>
            <a:off x="548640" y="1234440"/>
            <a:ext cx="11094415" cy="420624"/>
          </a:xfrm>
          <a:prstGeom prst="roundRect">
            <a:avLst>
              <a:gd name="adj" fmla="val 9783"/>
            </a:avLst>
          </a:prstGeom>
          <a:solidFill>
            <a:srgbClr val="F7F9FC"/>
          </a:solidFill>
          <a:ln w="9525">
            <a:solidFill>
              <a:srgbClr val="D9D9D9"/>
            </a:solidFill>
            <a:prstDash val="solid"/>
          </a:ln>
        </p:spPr>
      </p:sp>
      <p:sp>
        <p:nvSpPr>
          <p:cNvPr id="4" name="Text 2"/>
          <p:cNvSpPr/>
          <p:nvPr/>
        </p:nvSpPr>
        <p:spPr>
          <a:xfrm>
            <a:off x="685800" y="1234440"/>
            <a:ext cx="1965960" cy="420624"/>
          </a:xfrm>
          <a:prstGeom prst="rect">
            <a:avLst/>
          </a:prstGeom>
          <a:noFill/>
          <a:ln/>
        </p:spPr>
        <p:txBody>
          <a:bodyPr wrap="square"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Güvenli küme</a:t>
            </a:r>
            <a:endParaRPr lang="en-US" sz="1250" dirty="0"/>
          </a:p>
        </p:txBody>
      </p:sp>
      <p:sp>
        <p:nvSpPr>
          <p:cNvPr id="5" name="Text 3"/>
          <p:cNvSpPr/>
          <p:nvPr/>
        </p:nvSpPr>
        <p:spPr>
          <a:xfrm>
            <a:off x="2651760" y="1234440"/>
            <a:ext cx="8854135" cy="420624"/>
          </a:xfrm>
          <a:prstGeom prst="rect">
            <a:avLst/>
          </a:prstGeom>
          <a:noFill/>
          <a:ln/>
        </p:spPr>
        <p:txBody>
          <a:bodyPr wrap="square" rtlCol="0" anchor="ctr"/>
          <a:lstStyle/>
          <a:p>
            <a:pPr indent="0" marL="0">
              <a:buNone/>
            </a:pPr>
            <a:r>
              <a:rPr lang="en-US" sz="1200" dirty="0">
                <a:solidFill>
                  <a:srgbClr val="262626"/>
                </a:solidFill>
                <a:latin typeface="Consolas" pitchFamily="34" charset="0"/>
                <a:ea typeface="Consolas" pitchFamily="34" charset="-122"/>
                <a:cs typeface="Consolas" pitchFamily="34" charset="-120"/>
              </a:rPr>
              <a:t>C = { x : h(x) ≥ 0 }</a:t>
            </a:r>
            <a:endParaRPr lang="en-US" sz="1200" dirty="0"/>
          </a:p>
        </p:txBody>
      </p:sp>
      <p:sp>
        <p:nvSpPr>
          <p:cNvPr id="6" name="Shape 4"/>
          <p:cNvSpPr/>
          <p:nvPr/>
        </p:nvSpPr>
        <p:spPr>
          <a:xfrm>
            <a:off x="6095848" y="1655064"/>
            <a:ext cx="0" cy="82296"/>
          </a:xfrm>
          <a:prstGeom prst="line">
            <a:avLst/>
          </a:prstGeom>
          <a:noFill/>
          <a:ln w="15875">
            <a:solidFill>
              <a:srgbClr val="6B6B6B"/>
            </a:solidFill>
            <a:prstDash val="solid"/>
            <a:tailEnd type="triangle"/>
          </a:ln>
        </p:spPr>
      </p:sp>
      <p:sp>
        <p:nvSpPr>
          <p:cNvPr id="7" name="Shape 5"/>
          <p:cNvSpPr/>
          <p:nvPr/>
        </p:nvSpPr>
        <p:spPr>
          <a:xfrm>
            <a:off x="548640" y="1737360"/>
            <a:ext cx="11094415" cy="420624"/>
          </a:xfrm>
          <a:prstGeom prst="roundRect">
            <a:avLst>
              <a:gd name="adj" fmla="val 9783"/>
            </a:avLst>
          </a:prstGeom>
          <a:solidFill>
            <a:srgbClr val="F7F9FC"/>
          </a:solidFill>
          <a:ln w="9525">
            <a:solidFill>
              <a:srgbClr val="D9D9D9"/>
            </a:solidFill>
            <a:prstDash val="solid"/>
          </a:ln>
        </p:spPr>
      </p:sp>
      <p:sp>
        <p:nvSpPr>
          <p:cNvPr id="8" name="Text 6"/>
          <p:cNvSpPr/>
          <p:nvPr/>
        </p:nvSpPr>
        <p:spPr>
          <a:xfrm>
            <a:off x="685800" y="1737360"/>
            <a:ext cx="1965960" cy="420624"/>
          </a:xfrm>
          <a:prstGeom prst="rect">
            <a:avLst/>
          </a:prstGeom>
          <a:noFill/>
          <a:ln/>
        </p:spPr>
        <p:txBody>
          <a:bodyPr wrap="square"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CBF koşulu</a:t>
            </a:r>
            <a:endParaRPr lang="en-US" sz="1250" dirty="0"/>
          </a:p>
        </p:txBody>
      </p:sp>
      <p:sp>
        <p:nvSpPr>
          <p:cNvPr id="9" name="Text 7"/>
          <p:cNvSpPr/>
          <p:nvPr/>
        </p:nvSpPr>
        <p:spPr>
          <a:xfrm>
            <a:off x="2651760" y="1737360"/>
            <a:ext cx="8854135" cy="420624"/>
          </a:xfrm>
          <a:prstGeom prst="rect">
            <a:avLst/>
          </a:prstGeom>
          <a:noFill/>
          <a:ln/>
        </p:spPr>
        <p:txBody>
          <a:bodyPr wrap="square" rtlCol="0" anchor="ctr"/>
          <a:lstStyle/>
          <a:p>
            <a:pPr indent="0" marL="0">
              <a:buNone/>
            </a:pPr>
            <a:r>
              <a:rPr lang="en-US" sz="1200" dirty="0">
                <a:solidFill>
                  <a:srgbClr val="262626"/>
                </a:solidFill>
                <a:latin typeface="Consolas" pitchFamily="34" charset="0"/>
                <a:ea typeface="Consolas" pitchFamily="34" charset="-122"/>
                <a:cs typeface="Consolas" pitchFamily="34" charset="-120"/>
              </a:rPr>
              <a:t>ḣ ≥ −α(h)</a:t>
            </a:r>
            <a:endParaRPr lang="en-US" sz="1200" dirty="0"/>
          </a:p>
        </p:txBody>
      </p:sp>
      <p:sp>
        <p:nvSpPr>
          <p:cNvPr id="10" name="Shape 8"/>
          <p:cNvSpPr/>
          <p:nvPr/>
        </p:nvSpPr>
        <p:spPr>
          <a:xfrm>
            <a:off x="6095848" y="2157984"/>
            <a:ext cx="0" cy="82296"/>
          </a:xfrm>
          <a:prstGeom prst="line">
            <a:avLst/>
          </a:prstGeom>
          <a:noFill/>
          <a:ln w="15875">
            <a:solidFill>
              <a:srgbClr val="6B6B6B"/>
            </a:solidFill>
            <a:prstDash val="solid"/>
            <a:tailEnd type="triangle"/>
          </a:ln>
        </p:spPr>
      </p:sp>
      <p:sp>
        <p:nvSpPr>
          <p:cNvPr id="11" name="Shape 9"/>
          <p:cNvSpPr/>
          <p:nvPr/>
        </p:nvSpPr>
        <p:spPr>
          <a:xfrm>
            <a:off x="548640" y="2240280"/>
            <a:ext cx="11094415" cy="420624"/>
          </a:xfrm>
          <a:prstGeom prst="roundRect">
            <a:avLst>
              <a:gd name="adj" fmla="val 9783"/>
            </a:avLst>
          </a:prstGeom>
          <a:solidFill>
            <a:srgbClr val="F7F9FC"/>
          </a:solidFill>
          <a:ln w="9525">
            <a:solidFill>
              <a:srgbClr val="D9D9D9"/>
            </a:solidFill>
            <a:prstDash val="solid"/>
          </a:ln>
        </p:spPr>
      </p:sp>
      <p:sp>
        <p:nvSpPr>
          <p:cNvPr id="12" name="Text 10"/>
          <p:cNvSpPr/>
          <p:nvPr/>
        </p:nvSpPr>
        <p:spPr>
          <a:xfrm>
            <a:off x="685800" y="2240280"/>
            <a:ext cx="1965960" cy="420624"/>
          </a:xfrm>
          <a:prstGeom prst="rect">
            <a:avLst/>
          </a:prstGeom>
          <a:noFill/>
          <a:ln/>
        </p:spPr>
        <p:txBody>
          <a:bodyPr wrap="square"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Control-affine</a:t>
            </a:r>
            <a:endParaRPr lang="en-US" sz="1250" dirty="0"/>
          </a:p>
        </p:txBody>
      </p:sp>
      <p:sp>
        <p:nvSpPr>
          <p:cNvPr id="13" name="Text 11"/>
          <p:cNvSpPr/>
          <p:nvPr/>
        </p:nvSpPr>
        <p:spPr>
          <a:xfrm>
            <a:off x="2651760" y="2240280"/>
            <a:ext cx="8854135" cy="420624"/>
          </a:xfrm>
          <a:prstGeom prst="rect">
            <a:avLst/>
          </a:prstGeom>
          <a:noFill/>
          <a:ln/>
        </p:spPr>
        <p:txBody>
          <a:bodyPr wrap="square" rtlCol="0" anchor="ctr"/>
          <a:lstStyle/>
          <a:p>
            <a:pPr indent="0" marL="0">
              <a:buNone/>
            </a:pPr>
            <a:r>
              <a:rPr lang="en-US" sz="1200" dirty="0">
                <a:solidFill>
                  <a:srgbClr val="262626"/>
                </a:solidFill>
                <a:latin typeface="Consolas" pitchFamily="34" charset="0"/>
                <a:ea typeface="Consolas" pitchFamily="34" charset="-122"/>
                <a:cs typeface="Consolas" pitchFamily="34" charset="-120"/>
              </a:rPr>
              <a:t>ẋ = f(x) + g(x)u   ⟹   ḣ = L_f h + L_g h·u</a:t>
            </a:r>
            <a:endParaRPr lang="en-US" sz="1200" dirty="0"/>
          </a:p>
        </p:txBody>
      </p:sp>
      <p:sp>
        <p:nvSpPr>
          <p:cNvPr id="14" name="Shape 12"/>
          <p:cNvSpPr/>
          <p:nvPr/>
        </p:nvSpPr>
        <p:spPr>
          <a:xfrm>
            <a:off x="6095848" y="2660904"/>
            <a:ext cx="0" cy="82296"/>
          </a:xfrm>
          <a:prstGeom prst="line">
            <a:avLst/>
          </a:prstGeom>
          <a:noFill/>
          <a:ln w="15875">
            <a:solidFill>
              <a:srgbClr val="6B6B6B"/>
            </a:solidFill>
            <a:prstDash val="solid"/>
            <a:tailEnd type="triangle"/>
          </a:ln>
        </p:spPr>
      </p:sp>
      <p:sp>
        <p:nvSpPr>
          <p:cNvPr id="15" name="Shape 13"/>
          <p:cNvSpPr/>
          <p:nvPr/>
        </p:nvSpPr>
        <p:spPr>
          <a:xfrm>
            <a:off x="548640" y="2743200"/>
            <a:ext cx="11094415" cy="420624"/>
          </a:xfrm>
          <a:prstGeom prst="roundRect">
            <a:avLst>
              <a:gd name="adj" fmla="val 9783"/>
            </a:avLst>
          </a:prstGeom>
          <a:solidFill>
            <a:srgbClr val="F7F9FC"/>
          </a:solidFill>
          <a:ln w="9525">
            <a:solidFill>
              <a:srgbClr val="D9D9D9"/>
            </a:solidFill>
            <a:prstDash val="solid"/>
          </a:ln>
        </p:spPr>
      </p:sp>
      <p:sp>
        <p:nvSpPr>
          <p:cNvPr id="16" name="Text 14"/>
          <p:cNvSpPr/>
          <p:nvPr/>
        </p:nvSpPr>
        <p:spPr>
          <a:xfrm>
            <a:off x="685800" y="2743200"/>
            <a:ext cx="1965960" cy="420624"/>
          </a:xfrm>
          <a:prstGeom prst="rect">
            <a:avLst/>
          </a:prstGeom>
          <a:noFill/>
          <a:ln/>
        </p:spPr>
        <p:txBody>
          <a:bodyPr wrap="square"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Lineer kısıt</a:t>
            </a:r>
            <a:endParaRPr lang="en-US" sz="1250" dirty="0"/>
          </a:p>
        </p:txBody>
      </p:sp>
      <p:sp>
        <p:nvSpPr>
          <p:cNvPr id="17" name="Text 15"/>
          <p:cNvSpPr/>
          <p:nvPr/>
        </p:nvSpPr>
        <p:spPr>
          <a:xfrm>
            <a:off x="2651760" y="2743200"/>
            <a:ext cx="8854135" cy="420624"/>
          </a:xfrm>
          <a:prstGeom prst="rect">
            <a:avLst/>
          </a:prstGeom>
          <a:noFill/>
          <a:ln/>
        </p:spPr>
        <p:txBody>
          <a:bodyPr wrap="square" rtlCol="0" anchor="ctr"/>
          <a:lstStyle/>
          <a:p>
            <a:pPr indent="0" marL="0">
              <a:buNone/>
            </a:pPr>
            <a:r>
              <a:rPr lang="en-US" sz="1200" dirty="0">
                <a:solidFill>
                  <a:srgbClr val="262626"/>
                </a:solidFill>
                <a:latin typeface="Consolas" pitchFamily="34" charset="0"/>
                <a:ea typeface="Consolas" pitchFamily="34" charset="-122"/>
                <a:cs typeface="Consolas" pitchFamily="34" charset="-120"/>
              </a:rPr>
              <a:t>L_g h·u ≥ −αh − L_f h     (u uzayında yarı-düzlem)</a:t>
            </a:r>
            <a:endParaRPr lang="en-US" sz="1200" dirty="0"/>
          </a:p>
        </p:txBody>
      </p:sp>
      <p:sp>
        <p:nvSpPr>
          <p:cNvPr id="18" name="Shape 16"/>
          <p:cNvSpPr/>
          <p:nvPr/>
        </p:nvSpPr>
        <p:spPr>
          <a:xfrm>
            <a:off x="6095848" y="3163824"/>
            <a:ext cx="0" cy="82296"/>
          </a:xfrm>
          <a:prstGeom prst="line">
            <a:avLst/>
          </a:prstGeom>
          <a:noFill/>
          <a:ln w="15875">
            <a:solidFill>
              <a:srgbClr val="6B6B6B"/>
            </a:solidFill>
            <a:prstDash val="solid"/>
            <a:tailEnd type="triangle"/>
          </a:ln>
        </p:spPr>
      </p:sp>
      <p:sp>
        <p:nvSpPr>
          <p:cNvPr id="19" name="Shape 17"/>
          <p:cNvSpPr/>
          <p:nvPr/>
        </p:nvSpPr>
        <p:spPr>
          <a:xfrm>
            <a:off x="548640" y="3246120"/>
            <a:ext cx="11094415" cy="420624"/>
          </a:xfrm>
          <a:prstGeom prst="roundRect">
            <a:avLst>
              <a:gd name="adj" fmla="val 9783"/>
            </a:avLst>
          </a:prstGeom>
          <a:solidFill>
            <a:srgbClr val="F7F9FC"/>
          </a:solidFill>
          <a:ln w="9525">
            <a:solidFill>
              <a:srgbClr val="D9D9D9"/>
            </a:solidFill>
            <a:prstDash val="solid"/>
          </a:ln>
        </p:spPr>
      </p:sp>
      <p:sp>
        <p:nvSpPr>
          <p:cNvPr id="20" name="Text 18"/>
          <p:cNvSpPr/>
          <p:nvPr/>
        </p:nvSpPr>
        <p:spPr>
          <a:xfrm>
            <a:off x="685800" y="3246120"/>
            <a:ext cx="1965960" cy="420624"/>
          </a:xfrm>
          <a:prstGeom prst="rect">
            <a:avLst/>
          </a:prstGeom>
          <a:noFill/>
          <a:ln/>
        </p:spPr>
        <p:txBody>
          <a:bodyPr wrap="square"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Sonsuz çözüm</a:t>
            </a:r>
            <a:endParaRPr lang="en-US" sz="1250" dirty="0"/>
          </a:p>
        </p:txBody>
      </p:sp>
      <p:sp>
        <p:nvSpPr>
          <p:cNvPr id="21" name="Text 19"/>
          <p:cNvSpPr/>
          <p:nvPr/>
        </p:nvSpPr>
        <p:spPr>
          <a:xfrm>
            <a:off x="2651760" y="3246120"/>
            <a:ext cx="8854135" cy="420624"/>
          </a:xfrm>
          <a:prstGeom prst="rect">
            <a:avLst/>
          </a:prstGeom>
          <a:noFill/>
          <a:ln/>
        </p:spPr>
        <p:txBody>
          <a:bodyPr wrap="square" rtlCol="0" anchor="ctr"/>
          <a:lstStyle/>
          <a:p>
            <a:pPr indent="0" marL="0">
              <a:buNone/>
            </a:pPr>
            <a:r>
              <a:rPr lang="en-US" sz="1200" dirty="0">
                <a:solidFill>
                  <a:srgbClr val="262626"/>
                </a:solidFill>
                <a:latin typeface="Consolas" pitchFamily="34" charset="0"/>
                <a:ea typeface="Consolas" pitchFamily="34" charset="-122"/>
                <a:cs typeface="Consolas" pitchFamily="34" charset="-120"/>
              </a:rPr>
              <a:t>yarı-düzlemdeki her nokta güvenli — hangisi?</a:t>
            </a:r>
            <a:endParaRPr lang="en-US" sz="1200" dirty="0"/>
          </a:p>
        </p:txBody>
      </p:sp>
      <p:sp>
        <p:nvSpPr>
          <p:cNvPr id="22" name="Shape 20"/>
          <p:cNvSpPr/>
          <p:nvPr/>
        </p:nvSpPr>
        <p:spPr>
          <a:xfrm>
            <a:off x="6095848" y="3666744"/>
            <a:ext cx="0" cy="82296"/>
          </a:xfrm>
          <a:prstGeom prst="line">
            <a:avLst/>
          </a:prstGeom>
          <a:noFill/>
          <a:ln w="15875">
            <a:solidFill>
              <a:srgbClr val="6B6B6B"/>
            </a:solidFill>
            <a:prstDash val="solid"/>
            <a:tailEnd type="triangle"/>
          </a:ln>
        </p:spPr>
      </p:sp>
      <p:sp>
        <p:nvSpPr>
          <p:cNvPr id="23" name="Shape 21"/>
          <p:cNvSpPr/>
          <p:nvPr/>
        </p:nvSpPr>
        <p:spPr>
          <a:xfrm>
            <a:off x="548640" y="3749040"/>
            <a:ext cx="11094415" cy="420624"/>
          </a:xfrm>
          <a:prstGeom prst="roundRect">
            <a:avLst>
              <a:gd name="adj" fmla="val 9783"/>
            </a:avLst>
          </a:prstGeom>
          <a:solidFill>
            <a:srgbClr val="F7F9FC"/>
          </a:solidFill>
          <a:ln w="9525">
            <a:solidFill>
              <a:srgbClr val="D9D9D9"/>
            </a:solidFill>
            <a:prstDash val="solid"/>
          </a:ln>
        </p:spPr>
      </p:sp>
      <p:sp>
        <p:nvSpPr>
          <p:cNvPr id="24" name="Text 22"/>
          <p:cNvSpPr/>
          <p:nvPr/>
        </p:nvSpPr>
        <p:spPr>
          <a:xfrm>
            <a:off x="685800" y="3749040"/>
            <a:ext cx="1965960" cy="420624"/>
          </a:xfrm>
          <a:prstGeom prst="rect">
            <a:avLst/>
          </a:prstGeom>
          <a:noFill/>
          <a:ln/>
        </p:spPr>
        <p:txBody>
          <a:bodyPr wrap="square"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Doğal cevap</a:t>
            </a:r>
            <a:endParaRPr lang="en-US" sz="1250" dirty="0"/>
          </a:p>
        </p:txBody>
      </p:sp>
      <p:sp>
        <p:nvSpPr>
          <p:cNvPr id="25" name="Text 23"/>
          <p:cNvSpPr/>
          <p:nvPr/>
        </p:nvSpPr>
        <p:spPr>
          <a:xfrm>
            <a:off x="2651760" y="3749040"/>
            <a:ext cx="8854135" cy="420624"/>
          </a:xfrm>
          <a:prstGeom prst="rect">
            <a:avLst/>
          </a:prstGeom>
          <a:noFill/>
          <a:ln/>
        </p:spPr>
        <p:txBody>
          <a:bodyPr wrap="square" rtlCol="0" anchor="ctr"/>
          <a:lstStyle/>
          <a:p>
            <a:pPr indent="0" marL="0">
              <a:buNone/>
            </a:pPr>
            <a:r>
              <a:rPr lang="en-US" sz="1200" dirty="0">
                <a:solidFill>
                  <a:srgbClr val="262626"/>
                </a:solidFill>
                <a:latin typeface="Consolas" pitchFamily="34" charset="0"/>
                <a:ea typeface="Consolas" pitchFamily="34" charset="-122"/>
                <a:cs typeface="Consolas" pitchFamily="34" charset="-120"/>
              </a:rPr>
              <a:t>nominal komuta en yakın olan</a:t>
            </a:r>
            <a:endParaRPr lang="en-US" sz="1200" dirty="0"/>
          </a:p>
        </p:txBody>
      </p:sp>
      <p:sp>
        <p:nvSpPr>
          <p:cNvPr id="26" name="Shape 24"/>
          <p:cNvSpPr/>
          <p:nvPr/>
        </p:nvSpPr>
        <p:spPr>
          <a:xfrm>
            <a:off x="6095848" y="4169664"/>
            <a:ext cx="0" cy="82296"/>
          </a:xfrm>
          <a:prstGeom prst="line">
            <a:avLst/>
          </a:prstGeom>
          <a:noFill/>
          <a:ln w="15875">
            <a:solidFill>
              <a:srgbClr val="6B6B6B"/>
            </a:solidFill>
            <a:prstDash val="solid"/>
            <a:tailEnd type="triangle"/>
          </a:ln>
        </p:spPr>
      </p:sp>
      <p:sp>
        <p:nvSpPr>
          <p:cNvPr id="27" name="Shape 25"/>
          <p:cNvSpPr/>
          <p:nvPr/>
        </p:nvSpPr>
        <p:spPr>
          <a:xfrm>
            <a:off x="548640" y="4251960"/>
            <a:ext cx="11094415" cy="420624"/>
          </a:xfrm>
          <a:prstGeom prst="roundRect">
            <a:avLst>
              <a:gd name="adj" fmla="val 9783"/>
            </a:avLst>
          </a:prstGeom>
          <a:solidFill>
            <a:srgbClr val="DEEBF7"/>
          </a:solidFill>
          <a:ln w="15875">
            <a:solidFill>
              <a:srgbClr val="2E74B5"/>
            </a:solidFill>
            <a:prstDash val="solid"/>
          </a:ln>
        </p:spPr>
      </p:sp>
      <p:sp>
        <p:nvSpPr>
          <p:cNvPr id="28" name="Text 26"/>
          <p:cNvSpPr/>
          <p:nvPr/>
        </p:nvSpPr>
        <p:spPr>
          <a:xfrm>
            <a:off x="685800" y="4251960"/>
            <a:ext cx="1965960" cy="420624"/>
          </a:xfrm>
          <a:prstGeom prst="rect">
            <a:avLst/>
          </a:prstGeom>
          <a:noFill/>
          <a:ln/>
        </p:spPr>
        <p:txBody>
          <a:bodyPr wrap="square" rtlCol="0" anchor="ctr"/>
          <a:lstStyle/>
          <a:p>
            <a:pPr indent="0" marL="0">
              <a:buNone/>
            </a:pPr>
            <a:r>
              <a:rPr lang="en-US" sz="1250" b="1" dirty="0">
                <a:solidFill>
                  <a:srgbClr val="2E74B5"/>
                </a:solidFill>
                <a:latin typeface="Calibri" pitchFamily="34" charset="0"/>
                <a:ea typeface="Calibri" pitchFamily="34" charset="-122"/>
                <a:cs typeface="Calibri" pitchFamily="34" charset="-120"/>
              </a:rPr>
              <a:t>QP</a:t>
            </a:r>
            <a:endParaRPr lang="en-US" sz="1250" dirty="0"/>
          </a:p>
        </p:txBody>
      </p:sp>
      <p:sp>
        <p:nvSpPr>
          <p:cNvPr id="29" name="Text 27"/>
          <p:cNvSpPr/>
          <p:nvPr/>
        </p:nvSpPr>
        <p:spPr>
          <a:xfrm>
            <a:off x="2651760" y="4251960"/>
            <a:ext cx="8854135" cy="420624"/>
          </a:xfrm>
          <a:prstGeom prst="rect">
            <a:avLst/>
          </a:prstGeom>
          <a:noFill/>
          <a:ln/>
        </p:spPr>
        <p:txBody>
          <a:bodyPr wrap="square" rtlCol="0" anchor="ctr"/>
          <a:lstStyle/>
          <a:p>
            <a:pPr indent="0" marL="0">
              <a:buNone/>
            </a:pPr>
            <a:r>
              <a:rPr lang="en-US" sz="1350" dirty="0">
                <a:solidFill>
                  <a:srgbClr val="262626"/>
                </a:solidFill>
                <a:latin typeface="Consolas" pitchFamily="34" charset="0"/>
                <a:ea typeface="Consolas" pitchFamily="34" charset="-122"/>
                <a:cs typeface="Consolas" pitchFamily="34" charset="-120"/>
              </a:rPr>
              <a:t>min ‖u − u_nom‖²    s.t. lineer kısıt,  u ∈ U</a:t>
            </a:r>
            <a:endParaRPr lang="en-US" sz="1350" dirty="0"/>
          </a:p>
        </p:txBody>
      </p:sp>
      <p:sp>
        <p:nvSpPr>
          <p:cNvPr id="30" name="Text 28"/>
          <p:cNvSpPr/>
          <p:nvPr/>
        </p:nvSpPr>
        <p:spPr>
          <a:xfrm>
            <a:off x="548640" y="4800600"/>
            <a:ext cx="11094415" cy="502920"/>
          </a:xfrm>
          <a:prstGeom prst="rect">
            <a:avLst/>
          </a:prstGeom>
          <a:noFill/>
          <a:ln/>
        </p:spPr>
        <p:txBody>
          <a:bodyPr wrap="square" rtlCol="0" anchor="t"/>
          <a:lstStyle/>
          <a:p>
            <a:pPr algn="l" indent="0" marL="0">
              <a:lnSpc>
                <a:spcPct val="118000"/>
              </a:lnSpc>
              <a:buNone/>
            </a:pPr>
            <a:r>
              <a:rPr lang="en-US" sz="1250" i="1" dirty="0">
                <a:solidFill>
                  <a:srgbClr val="6B6B6B"/>
                </a:solidFill>
                <a:latin typeface="Calibri" pitchFamily="34" charset="0"/>
                <a:ea typeface="Calibri" pitchFamily="34" charset="-122"/>
                <a:cs typeface="Calibri" pitchFamily="34" charset="-120"/>
              </a:rPr>
              <a:t>QP bir çözücü değil, problem tipidir: her kontrol adımında sıfırdan kurulup çözülür — 10 Hz'de saniyede 10 bağımsız problem, aralarında hafıza yok.</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5321808"/>
          <a:ext cx="11094415" cy="914400"/>
        </p:xfrm>
        <a:graphic>
          <a:graphicData uri="http://schemas.openxmlformats.org/drawingml/2006/table">
            <a:tbl>
              <a:tblPr/>
              <a:tblGrid>
                <a:gridCol w="1051560"/>
                <a:gridCol w="1920240"/>
                <a:gridCol w="1691640"/>
                <a:gridCol w="1417320"/>
                <a:gridCol w="1600200"/>
                <a:gridCol w="3413455"/>
              </a:tblGrid>
              <a:tr h="292608">
                <a:tc>
                  <a:txBody>
                    <a:bodyPr/>
                    <a:lstStyle/>
                    <a:p>
                      <a:pPr algn="ctr" indent="0" marL="0">
                        <a:buNone/>
                      </a:pPr>
                      <a:r>
                        <a:rPr lang="en-US" sz="1050" b="1" dirty="0">
                          <a:solidFill>
                            <a:srgbClr val="1F3864"/>
                          </a:solidFill>
                        </a:rPr>
                        <a:t>Yöntem</a:t>
                      </a:r>
                      <a:endParaRPr lang="en-US" sz="1050" dirty="0"/>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EEBF7"/>
                    </a:solidFill>
                  </a:tcPr>
                </a:tc>
                <a:tc>
                  <a:txBody>
                    <a:bodyPr/>
                    <a:lstStyle/>
                    <a:p>
                      <a:pPr algn="ctr" indent="0" marL="0">
                        <a:buNone/>
                      </a:pPr>
                      <a:r>
                        <a:rPr lang="en-US" sz="1050" b="1" dirty="0">
                          <a:solidFill>
                            <a:srgbClr val="1F3864"/>
                          </a:solidFill>
                        </a:rPr>
                        <a:t>Maliyet</a:t>
                      </a:r>
                      <a:endParaRPr lang="en-US" sz="1050" dirty="0"/>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EEBF7"/>
                    </a:solidFill>
                  </a:tcPr>
                </a:tc>
                <a:tc>
                  <a:txBody>
                    <a:bodyPr/>
                    <a:lstStyle/>
                    <a:p>
                      <a:pPr algn="ctr" indent="0" marL="0">
                        <a:buNone/>
                      </a:pPr>
                      <a:r>
                        <a:rPr lang="en-US" sz="1050" b="1" dirty="0">
                          <a:solidFill>
                            <a:srgbClr val="1F3864"/>
                          </a:solidFill>
                        </a:rPr>
                        <a:t>Kısıt</a:t>
                      </a:r>
                      <a:endParaRPr lang="en-US" sz="1050" dirty="0"/>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EEBF7"/>
                    </a:solidFill>
                  </a:tcPr>
                </a:tc>
                <a:tc>
                  <a:txBody>
                    <a:bodyPr/>
                    <a:lstStyle/>
                    <a:p>
                      <a:pPr algn="ctr" indent="0" marL="0">
                        <a:buNone/>
                      </a:pPr>
                      <a:r>
                        <a:rPr lang="en-US" sz="1050" b="1" dirty="0">
                          <a:solidFill>
                            <a:srgbClr val="1F3864"/>
                          </a:solidFill>
                        </a:rPr>
                        <a:t>Ufuk</a:t>
                      </a:r>
                      <a:endParaRPr lang="en-US" sz="1050" dirty="0"/>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EEBF7"/>
                    </a:solidFill>
                  </a:tcPr>
                </a:tc>
                <a:tc>
                  <a:txBody>
                    <a:bodyPr/>
                    <a:lstStyle/>
                    <a:p>
                      <a:pPr algn="ctr" indent="0" marL="0">
                        <a:buNone/>
                      </a:pPr>
                      <a:r>
                        <a:rPr lang="en-US" sz="1050" b="1" dirty="0">
                          <a:solidFill>
                            <a:srgbClr val="1F3864"/>
                          </a:solidFill>
                        </a:rPr>
                        <a:t>Çözüm yöntemi</a:t>
                      </a:r>
                      <a:endParaRPr lang="en-US" sz="1050" dirty="0"/>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EEBF7"/>
                    </a:solidFill>
                  </a:tcPr>
                </a:tc>
                <a:tc>
                  <a:txBody>
                    <a:bodyPr/>
                    <a:lstStyle/>
                    <a:p>
                      <a:pPr algn="ctr" indent="0" marL="0">
                        <a:buNone/>
                      </a:pPr>
                      <a:r>
                        <a:rPr lang="en-US" sz="1050" b="1" dirty="0">
                          <a:solidFill>
                            <a:srgbClr val="1F3864"/>
                          </a:solidFill>
                        </a:rPr>
                        <a:t>Tek başına kontrolcü mü</a:t>
                      </a:r>
                      <a:endParaRPr lang="en-US" sz="1050" dirty="0"/>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EEBF7"/>
                    </a:solidFill>
                  </a:tcPr>
                </a:tc>
              </a:tr>
              <a:tr h="292608">
                <a:tc>
                  <a:txBody>
                    <a:bodyPr/>
                    <a:lstStyle/>
                    <a:p>
                      <a:pPr algn="ctr" indent="0" marL="0">
                        <a:buNone/>
                      </a:pPr>
                      <a:r>
                        <a:rPr lang="en-US" sz="1050" dirty="0">
                          <a:solidFill>
                            <a:srgbClr val="262626"/>
                          </a:solidFill>
                          <a:latin typeface="Calibri" pitchFamily="34" charset="0"/>
                          <a:ea typeface="Calibri" pitchFamily="34" charset="-122"/>
                          <a:cs typeface="Calibri" pitchFamily="34" charset="-120"/>
                        </a:rPr>
                        <a:t>LQR</a:t>
                      </a:r>
                      <a:endParaRPr lang="en-US" sz="1050" dirty="0">
                        <a:latin typeface="Calibri" charset="0"/>
                        <a:ea typeface="Calibri" charset="0"/>
                        <a:cs typeface="Calibri" charset="0"/>
                      </a:endParaRPr>
                    </a:p>
                  </a:txBody>
                  <a:tcPr marL="76200" marR="76200" marT="76200" marB="762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62626"/>
                          </a:solidFill>
                          <a:latin typeface="Calibri" pitchFamily="34" charset="0"/>
                          <a:ea typeface="Calibri" pitchFamily="34" charset="-122"/>
                          <a:cs typeface="Calibri" pitchFamily="34" charset="-120"/>
                        </a:rPr>
                        <a:t>ikinci derece</a:t>
                      </a:r>
                      <a:endParaRPr lang="en-US" sz="1050" dirty="0">
                        <a:latin typeface="Calibri" charset="0"/>
                        <a:ea typeface="Calibri" charset="0"/>
                        <a:cs typeface="Calibri" charset="0"/>
                      </a:endParaRPr>
                    </a:p>
                    <a:p>
                      <a:pPr algn="ctr" indent="0" marL="0">
                        <a:buNone/>
                      </a:pPr>
                      <a:r>
                        <a:rPr lang="en-US" sz="1050" dirty="0">
                          <a:solidFill>
                            <a:srgbClr val="262626"/>
                          </a:solidFill>
                          <a:latin typeface="Calibri" pitchFamily="34" charset="0"/>
                          <a:ea typeface="Calibri" pitchFamily="34" charset="-122"/>
                          <a:cs typeface="Calibri" pitchFamily="34" charset="-120"/>
                        </a:rPr>
                        <a:t>(durum+girdi)</a:t>
                      </a:r>
                      <a:endParaRPr lang="en-US" sz="1050" dirty="0">
                        <a:latin typeface="Calibri" charset="0"/>
                        <a:ea typeface="Calibri" charset="0"/>
                        <a:cs typeface="Calibri" charset="0"/>
                      </a:endParaRPr>
                    </a:p>
                  </a:txBody>
                  <a:tcPr marL="76200" marR="76200" marT="76200" marB="762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62626"/>
                          </a:solidFill>
                          <a:latin typeface="Calibri" pitchFamily="34" charset="0"/>
                          <a:ea typeface="Calibri" pitchFamily="34" charset="-122"/>
                          <a:cs typeface="Calibri" pitchFamily="34" charset="-120"/>
                        </a:rPr>
                        <a:t>yok</a:t>
                      </a:r>
                      <a:endParaRPr lang="en-US" sz="1050" dirty="0">
                        <a:latin typeface="Calibri" charset="0"/>
                        <a:ea typeface="Calibri" charset="0"/>
                        <a:cs typeface="Calibri" charset="0"/>
                      </a:endParaRPr>
                    </a:p>
                  </a:txBody>
                  <a:tcPr marL="76200" marR="76200" marT="76200" marB="762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62626"/>
                          </a:solidFill>
                          <a:latin typeface="Calibri" pitchFamily="34" charset="0"/>
                          <a:ea typeface="Calibri" pitchFamily="34" charset="-122"/>
                          <a:cs typeface="Calibri" pitchFamily="34" charset="-120"/>
                        </a:rPr>
                        <a:t>sonsuz</a:t>
                      </a:r>
                      <a:endParaRPr lang="en-US" sz="1050" dirty="0">
                        <a:latin typeface="Calibri" charset="0"/>
                        <a:ea typeface="Calibri" charset="0"/>
                        <a:cs typeface="Calibri" charset="0"/>
                      </a:endParaRPr>
                    </a:p>
                  </a:txBody>
                  <a:tcPr marL="76200" marR="76200" marT="76200" marB="762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62626"/>
                          </a:solidFill>
                          <a:latin typeface="Calibri" pitchFamily="34" charset="0"/>
                          <a:ea typeface="Calibri" pitchFamily="34" charset="-122"/>
                          <a:cs typeface="Calibri" pitchFamily="34" charset="-120"/>
                        </a:rPr>
                        <a:t>Riccati</a:t>
                      </a:r>
                      <a:endParaRPr lang="en-US" sz="1050" dirty="0">
                        <a:latin typeface="Calibri" charset="0"/>
                        <a:ea typeface="Calibri" charset="0"/>
                        <a:cs typeface="Calibri" charset="0"/>
                      </a:endParaRPr>
                    </a:p>
                    <a:p>
                      <a:pPr algn="ctr" indent="0" marL="0">
                        <a:buNone/>
                      </a:pPr>
                      <a:r>
                        <a:rPr lang="en-US" sz="1050" dirty="0">
                          <a:solidFill>
                            <a:srgbClr val="262626"/>
                          </a:solidFill>
                          <a:latin typeface="Calibri" pitchFamily="34" charset="0"/>
                          <a:ea typeface="Calibri" pitchFamily="34" charset="-122"/>
                          <a:cs typeface="Calibri" pitchFamily="34" charset="-120"/>
                        </a:rPr>
                        <a:t>(çevrimdışı)</a:t>
                      </a:r>
                      <a:endParaRPr lang="en-US" sz="1050" dirty="0">
                        <a:latin typeface="Calibri" charset="0"/>
                        <a:ea typeface="Calibri" charset="0"/>
                        <a:cs typeface="Calibri" charset="0"/>
                      </a:endParaRPr>
                    </a:p>
                  </a:txBody>
                  <a:tcPr marL="76200" marR="76200" marT="76200" marB="762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62626"/>
                          </a:solidFill>
                          <a:latin typeface="Calibri" pitchFamily="34" charset="0"/>
                          <a:ea typeface="Calibri" pitchFamily="34" charset="-122"/>
                          <a:cs typeface="Calibri" pitchFamily="34" charset="-120"/>
                        </a:rPr>
                        <a:t>Evet</a:t>
                      </a:r>
                      <a:endParaRPr lang="en-US" sz="1050" dirty="0">
                        <a:latin typeface="Calibri" charset="0"/>
                        <a:ea typeface="Calibri" charset="0"/>
                        <a:cs typeface="Calibri" charset="0"/>
                      </a:endParaRPr>
                    </a:p>
                  </a:txBody>
                  <a:tcPr marL="76200" marR="76200" marT="76200" marB="762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92608">
                <a:tc>
                  <a:txBody>
                    <a:bodyPr/>
                    <a:lstStyle/>
                    <a:p>
                      <a:pPr algn="ctr" indent="0" marL="0">
                        <a:buNone/>
                      </a:pPr>
                      <a:r>
                        <a:rPr lang="en-US" sz="1050" dirty="0">
                          <a:solidFill>
                            <a:srgbClr val="262626"/>
                          </a:solidFill>
                          <a:latin typeface="Calibri" pitchFamily="34" charset="0"/>
                          <a:ea typeface="Calibri" pitchFamily="34" charset="-122"/>
                          <a:cs typeface="Calibri" pitchFamily="34" charset="-120"/>
                        </a:rPr>
                        <a:t>MPC</a:t>
                      </a:r>
                      <a:endParaRPr lang="en-US" sz="1050" dirty="0">
                        <a:latin typeface="Calibri" charset="0"/>
                        <a:ea typeface="Calibri" charset="0"/>
                        <a:cs typeface="Calibri" charset="0"/>
                      </a:endParaRPr>
                    </a:p>
                  </a:txBody>
                  <a:tcPr marL="76200" marR="76200" marT="76200" marB="762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62626"/>
                          </a:solidFill>
                          <a:latin typeface="Calibri" pitchFamily="34" charset="0"/>
                          <a:ea typeface="Calibri" pitchFamily="34" charset="-122"/>
                          <a:cs typeface="Calibri" pitchFamily="34" charset="-120"/>
                        </a:rPr>
                        <a:t>ikinci derece</a:t>
                      </a:r>
                      <a:endParaRPr lang="en-US" sz="1050" dirty="0">
                        <a:latin typeface="Calibri" charset="0"/>
                        <a:ea typeface="Calibri" charset="0"/>
                        <a:cs typeface="Calibri" charset="0"/>
                      </a:endParaRPr>
                    </a:p>
                    <a:p>
                      <a:pPr algn="ctr" indent="0" marL="0">
                        <a:buNone/>
                      </a:pPr>
                      <a:r>
                        <a:rPr lang="en-US" sz="1050" dirty="0">
                          <a:solidFill>
                            <a:srgbClr val="262626"/>
                          </a:solidFill>
                          <a:latin typeface="Calibri" pitchFamily="34" charset="0"/>
                          <a:ea typeface="Calibri" pitchFamily="34" charset="-122"/>
                          <a:cs typeface="Calibri" pitchFamily="34" charset="-120"/>
                        </a:rPr>
                        <a:t>(ufuk boyu)</a:t>
                      </a:r>
                      <a:endParaRPr lang="en-US" sz="1050" dirty="0">
                        <a:latin typeface="Calibri" charset="0"/>
                        <a:ea typeface="Calibri" charset="0"/>
                        <a:cs typeface="Calibri" charset="0"/>
                      </a:endParaRPr>
                    </a:p>
                  </a:txBody>
                  <a:tcPr marL="76200" marR="76200" marT="76200" marB="762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62626"/>
                          </a:solidFill>
                          <a:latin typeface="Calibri" pitchFamily="34" charset="0"/>
                          <a:ea typeface="Calibri" pitchFamily="34" charset="-122"/>
                          <a:cs typeface="Calibri" pitchFamily="34" charset="-120"/>
                        </a:rPr>
                        <a:t>durum+girdi</a:t>
                      </a:r>
                      <a:endParaRPr lang="en-US" sz="1050" dirty="0">
                        <a:latin typeface="Calibri" charset="0"/>
                        <a:ea typeface="Calibri" charset="0"/>
                        <a:cs typeface="Calibri" charset="0"/>
                      </a:endParaRPr>
                    </a:p>
                  </a:txBody>
                  <a:tcPr marL="76200" marR="76200" marT="76200" marB="762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62626"/>
                          </a:solidFill>
                          <a:latin typeface="Calibri" pitchFamily="34" charset="0"/>
                          <a:ea typeface="Calibri" pitchFamily="34" charset="-122"/>
                          <a:cs typeface="Calibri" pitchFamily="34" charset="-120"/>
                        </a:rPr>
                        <a:t>sonlu, kayan</a:t>
                      </a:r>
                      <a:endParaRPr lang="en-US" sz="1050" dirty="0">
                        <a:latin typeface="Calibri" charset="0"/>
                        <a:ea typeface="Calibri" charset="0"/>
                        <a:cs typeface="Calibri" charset="0"/>
                      </a:endParaRPr>
                    </a:p>
                  </a:txBody>
                  <a:tcPr marL="76200" marR="76200" marT="76200" marB="762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62626"/>
                          </a:solidFill>
                          <a:latin typeface="Calibri" pitchFamily="34" charset="0"/>
                          <a:ea typeface="Calibri" pitchFamily="34" charset="-122"/>
                          <a:cs typeface="Calibri" pitchFamily="34" charset="-120"/>
                        </a:rPr>
                        <a:t>QP/NLP</a:t>
                      </a:r>
                      <a:endParaRPr lang="en-US" sz="1050" dirty="0">
                        <a:latin typeface="Calibri" charset="0"/>
                        <a:ea typeface="Calibri" charset="0"/>
                        <a:cs typeface="Calibri" charset="0"/>
                      </a:endParaRPr>
                    </a:p>
                    <a:p>
                      <a:pPr algn="ctr" indent="0" marL="0">
                        <a:buNone/>
                      </a:pPr>
                      <a:r>
                        <a:rPr lang="en-US" sz="1050" dirty="0">
                          <a:solidFill>
                            <a:srgbClr val="262626"/>
                          </a:solidFill>
                          <a:latin typeface="Calibri" pitchFamily="34" charset="0"/>
                          <a:ea typeface="Calibri" pitchFamily="34" charset="-122"/>
                          <a:cs typeface="Calibri" pitchFamily="34" charset="-120"/>
                        </a:rPr>
                        <a:t>(çevrimiçi)</a:t>
                      </a:r>
                      <a:endParaRPr lang="en-US" sz="1050" dirty="0">
                        <a:latin typeface="Calibri" charset="0"/>
                        <a:ea typeface="Calibri" charset="0"/>
                        <a:cs typeface="Calibri" charset="0"/>
                      </a:endParaRPr>
                    </a:p>
                  </a:txBody>
                  <a:tcPr marL="76200" marR="76200" marT="76200" marB="762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62626"/>
                          </a:solidFill>
                          <a:latin typeface="Calibri" pitchFamily="34" charset="0"/>
                          <a:ea typeface="Calibri" pitchFamily="34" charset="-122"/>
                          <a:cs typeface="Calibri" pitchFamily="34" charset="-120"/>
                        </a:rPr>
                        <a:t>Evet</a:t>
                      </a:r>
                      <a:endParaRPr lang="en-US" sz="1050" dirty="0">
                        <a:latin typeface="Calibri" charset="0"/>
                        <a:ea typeface="Calibri" charset="0"/>
                        <a:cs typeface="Calibri" charset="0"/>
                      </a:endParaRPr>
                    </a:p>
                  </a:txBody>
                  <a:tcPr marL="76200" marR="76200" marT="76200" marB="762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92608">
                <a:tc>
                  <a:txBody>
                    <a:bodyPr/>
                    <a:lstStyle/>
                    <a:p>
                      <a:pPr algn="ctr" indent="0" marL="0">
                        <a:buNone/>
                      </a:pPr>
                      <a:r>
                        <a:rPr lang="en-US" sz="1050" dirty="0">
                          <a:solidFill>
                            <a:srgbClr val="262626"/>
                          </a:solidFill>
                          <a:latin typeface="Calibri" pitchFamily="34" charset="0"/>
                          <a:ea typeface="Calibri" pitchFamily="34" charset="-122"/>
                          <a:cs typeface="Calibri" pitchFamily="34" charset="-120"/>
                        </a:rPr>
                        <a:t>CBF-QP</a:t>
                      </a:r>
                      <a:endParaRPr lang="en-US" sz="1050" dirty="0">
                        <a:latin typeface="Calibri" charset="0"/>
                        <a:ea typeface="Calibri" charset="0"/>
                        <a:cs typeface="Calibri" charset="0"/>
                      </a:endParaRPr>
                    </a:p>
                  </a:txBody>
                  <a:tcPr marL="76200" marR="76200" marT="76200" marB="762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62626"/>
                          </a:solidFill>
                          <a:latin typeface="Calibri" pitchFamily="34" charset="0"/>
                          <a:ea typeface="Calibri" pitchFamily="34" charset="-122"/>
                          <a:cs typeface="Calibri" pitchFamily="34" charset="-120"/>
                        </a:rPr>
                        <a:t>‖u−u_nom‖²</a:t>
                      </a:r>
                      <a:endParaRPr lang="en-US" sz="1050" dirty="0">
                        <a:latin typeface="Calibri" charset="0"/>
                        <a:ea typeface="Calibri" charset="0"/>
                        <a:cs typeface="Calibri" charset="0"/>
                      </a:endParaRPr>
                    </a:p>
                    <a:p>
                      <a:pPr algn="ctr" indent="0" marL="0">
                        <a:buNone/>
                      </a:pPr>
                      <a:r>
                        <a:rPr lang="en-US" sz="1050" dirty="0">
                          <a:solidFill>
                            <a:srgbClr val="262626"/>
                          </a:solidFill>
                          <a:latin typeface="Calibri" pitchFamily="34" charset="0"/>
                          <a:ea typeface="Calibri" pitchFamily="34" charset="-122"/>
                          <a:cs typeface="Calibri" pitchFamily="34" charset="-120"/>
                        </a:rPr>
                        <a:t>(anlık)</a:t>
                      </a:r>
                      <a:endParaRPr lang="en-US" sz="1050" dirty="0">
                        <a:latin typeface="Calibri" charset="0"/>
                        <a:ea typeface="Calibri" charset="0"/>
                        <a:cs typeface="Calibri" charset="0"/>
                      </a:endParaRPr>
                    </a:p>
                  </a:txBody>
                  <a:tcPr marL="76200" marR="76200" marT="76200" marB="762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62626"/>
                          </a:solidFill>
                          <a:latin typeface="Calibri" pitchFamily="34" charset="0"/>
                          <a:ea typeface="Calibri" pitchFamily="34" charset="-122"/>
                          <a:cs typeface="Calibri" pitchFamily="34" charset="-120"/>
                        </a:rPr>
                        <a:t>güvenlik+girdi</a:t>
                      </a:r>
                      <a:endParaRPr lang="en-US" sz="1050" dirty="0">
                        <a:latin typeface="Calibri" charset="0"/>
                        <a:ea typeface="Calibri" charset="0"/>
                        <a:cs typeface="Calibri" charset="0"/>
                      </a:endParaRPr>
                    </a:p>
                  </a:txBody>
                  <a:tcPr marL="76200" marR="76200" marT="76200" marB="762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62626"/>
                          </a:solidFill>
                          <a:latin typeface="Calibri" pitchFamily="34" charset="0"/>
                          <a:ea typeface="Calibri" pitchFamily="34" charset="-122"/>
                          <a:cs typeface="Calibri" pitchFamily="34" charset="-120"/>
                        </a:rPr>
                        <a:t>anlık (T=0)</a:t>
                      </a:r>
                      <a:endParaRPr lang="en-US" sz="1050" dirty="0">
                        <a:latin typeface="Calibri" charset="0"/>
                        <a:ea typeface="Calibri" charset="0"/>
                        <a:cs typeface="Calibri" charset="0"/>
                      </a:endParaRPr>
                    </a:p>
                  </a:txBody>
                  <a:tcPr marL="76200" marR="76200" marT="76200" marB="762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62626"/>
                          </a:solidFill>
                          <a:latin typeface="Calibri" pitchFamily="34" charset="0"/>
                          <a:ea typeface="Calibri" pitchFamily="34" charset="-122"/>
                          <a:cs typeface="Calibri" pitchFamily="34" charset="-120"/>
                        </a:rPr>
                        <a:t>QP</a:t>
                      </a:r>
                      <a:endParaRPr lang="en-US" sz="1050" dirty="0">
                        <a:latin typeface="Calibri" charset="0"/>
                        <a:ea typeface="Calibri" charset="0"/>
                        <a:cs typeface="Calibri" charset="0"/>
                      </a:endParaRPr>
                    </a:p>
                    <a:p>
                      <a:pPr algn="ctr" indent="0" marL="0">
                        <a:buNone/>
                      </a:pPr>
                      <a:r>
                        <a:rPr lang="en-US" sz="1050" dirty="0">
                          <a:solidFill>
                            <a:srgbClr val="262626"/>
                          </a:solidFill>
                          <a:latin typeface="Calibri" pitchFamily="34" charset="0"/>
                          <a:ea typeface="Calibri" pitchFamily="34" charset="-122"/>
                          <a:cs typeface="Calibri" pitchFamily="34" charset="-120"/>
                        </a:rPr>
                        <a:t>(çevrimiçi)</a:t>
                      </a:r>
                      <a:endParaRPr lang="en-US" sz="1050" dirty="0">
                        <a:latin typeface="Calibri" charset="0"/>
                        <a:ea typeface="Calibri" charset="0"/>
                        <a:cs typeface="Calibri" charset="0"/>
                      </a:endParaRPr>
                    </a:p>
                  </a:txBody>
                  <a:tcPr marL="76200" marR="76200" marT="76200" marB="762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algn="ctr" indent="0" marL="0">
                        <a:buNone/>
                      </a:pPr>
                      <a:r>
                        <a:rPr lang="en-US" sz="1050" dirty="0">
                          <a:solidFill>
                            <a:srgbClr val="262626"/>
                          </a:solidFill>
                          <a:latin typeface="Calibri" pitchFamily="34" charset="0"/>
                          <a:ea typeface="Calibri" pitchFamily="34" charset="-122"/>
                          <a:cs typeface="Calibri" pitchFamily="34" charset="-120"/>
                        </a:rPr>
                        <a:t>Hayır (filtre)</a:t>
                      </a:r>
                      <a:endParaRPr lang="en-US" sz="1050" dirty="0">
                        <a:latin typeface="Calibri" charset="0"/>
                        <a:ea typeface="Calibri" charset="0"/>
                        <a:cs typeface="Calibri" charset="0"/>
                      </a:endParaRPr>
                    </a:p>
                  </a:txBody>
                  <a:tcPr marL="76200" marR="76200" marT="76200" marB="762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58368"/>
          </a:xfrm>
          <a:prstGeom prst="rect">
            <a:avLst/>
          </a:prstGeom>
          <a:noFill/>
          <a:ln/>
        </p:spPr>
        <p:txBody>
          <a:bodyPr wrap="square" rtlCol="0" anchor="t"/>
          <a:lstStyle/>
          <a:p>
            <a:pPr algn="l" indent="0" marL="0">
              <a:buNone/>
            </a:pPr>
            <a:r>
              <a:rPr lang="en-US" sz="2600" b="1" dirty="0">
                <a:solidFill>
                  <a:srgbClr val="1F3864"/>
                </a:solidFill>
                <a:latin typeface="Calibri" pitchFamily="34" charset="0"/>
                <a:ea typeface="Calibri" pitchFamily="34" charset="-122"/>
                <a:cs typeface="Calibri" pitchFamily="34" charset="-120"/>
              </a:rPr>
              <a:t>Sistem Modeli ve Bariyer Fonksiyonu</a:t>
            </a:r>
            <a:endParaRPr lang="en-US" sz="2600" dirty="0"/>
          </a:p>
        </p:txBody>
      </p:sp>
      <p:sp>
        <p:nvSpPr>
          <p:cNvPr id="3" name="Shape 1"/>
          <p:cNvSpPr/>
          <p:nvPr/>
        </p:nvSpPr>
        <p:spPr>
          <a:xfrm>
            <a:off x="548640" y="1371600"/>
            <a:ext cx="6492240" cy="1413320"/>
          </a:xfrm>
          <a:prstGeom prst="rect">
            <a:avLst/>
          </a:prstGeom>
          <a:solidFill>
            <a:srgbClr val="F2F2F2"/>
          </a:solidFill>
          <a:ln w="9525">
            <a:solidFill>
              <a:srgbClr val="D9D9D9"/>
            </a:solidFill>
            <a:prstDash val="solid"/>
          </a:ln>
        </p:spPr>
      </p:sp>
      <p:sp>
        <p:nvSpPr>
          <p:cNvPr id="4" name="Text 2"/>
          <p:cNvSpPr/>
          <p:nvPr/>
        </p:nvSpPr>
        <p:spPr>
          <a:xfrm>
            <a:off x="731520" y="1463040"/>
            <a:ext cx="6126480" cy="1230440"/>
          </a:xfrm>
          <a:prstGeom prst="rect">
            <a:avLst/>
          </a:prstGeom>
          <a:noFill/>
          <a:ln/>
        </p:spPr>
        <p:txBody>
          <a:bodyPr wrap="square" rtlCol="0" anchor="t"/>
          <a:lstStyle/>
          <a:p>
            <a:pPr indent="0" marL="0">
              <a:lnSpc>
                <a:spcPct val="108000"/>
              </a:lnSpc>
              <a:buNone/>
            </a:pPr>
            <a:r>
              <a:rPr lang="en-US" sz="1350" dirty="0">
                <a:solidFill>
                  <a:srgbClr val="262626"/>
                </a:solidFill>
                <a:latin typeface="Consolas" pitchFamily="34" charset="0"/>
                <a:ea typeface="Consolas" pitchFamily="34" charset="-122"/>
                <a:cs typeface="Consolas" pitchFamily="34" charset="-120"/>
              </a:rPr>
              <a:t>Unicycle:   ẋ = v cos θ,   ẏ = v sin θ,   θ̇ = ω</a:t>
            </a:r>
            <a:endParaRPr lang="en-US" sz="1350" dirty="0"/>
          </a:p>
          <a:p>
            <a:pPr indent="0" marL="0">
              <a:lnSpc>
                <a:spcPct val="108000"/>
              </a:lnSpc>
              <a:buNone/>
            </a:pPr>
            <a:r>
              <a:rPr lang="en-US" sz="1350" dirty="0">
                <a:solidFill>
                  <a:srgbClr val="262626"/>
                </a:solidFill>
                <a:latin typeface="Consolas" pitchFamily="34" charset="0"/>
                <a:ea typeface="Consolas" pitchFamily="34" charset="-122"/>
                <a:cs typeface="Consolas" pitchFamily="34" charset="-120"/>
              </a:rPr>
              <a:t>            u = [v, ω]ᵀ,  v ∈ [0, 0.22],  ω ∈ [−2.84, 2.84]</a:t>
            </a:r>
            <a:endParaRPr lang="en-US" sz="1350" dirty="0"/>
          </a:p>
          <a:p>
            <a:pPr indent="0" marL="0">
              <a:lnSpc>
                <a:spcPct val="108000"/>
              </a:lnSpc>
              <a:buNone/>
            </a:pPr>
            <a:endParaRPr lang="en-US" sz="1350" dirty="0"/>
          </a:p>
          <a:p>
            <a:pPr indent="0" marL="0">
              <a:lnSpc>
                <a:spcPct val="108000"/>
              </a:lnSpc>
              <a:buNone/>
            </a:pPr>
            <a:r>
              <a:rPr lang="en-US" sz="1350" dirty="0">
                <a:solidFill>
                  <a:srgbClr val="262626"/>
                </a:solidFill>
                <a:latin typeface="Consolas" pitchFamily="34" charset="0"/>
                <a:ea typeface="Consolas" pitchFamily="34" charset="-122"/>
                <a:cs typeface="Consolas" pitchFamily="34" charset="-120"/>
              </a:rPr>
              <a:t>Bariyer:    h = ‖p_eff − p_o‖² − d_safe²</a:t>
            </a:r>
            <a:endParaRPr lang="en-US" sz="1350" dirty="0"/>
          </a:p>
          <a:p>
            <a:pPr indent="0" marL="0">
              <a:lnSpc>
                <a:spcPct val="108000"/>
              </a:lnSpc>
              <a:buNone/>
            </a:pPr>
            <a:r>
              <a:rPr lang="en-US" sz="1350" dirty="0">
                <a:solidFill>
                  <a:srgbClr val="262626"/>
                </a:solidFill>
                <a:latin typeface="Consolas" pitchFamily="34" charset="0"/>
                <a:ea typeface="Consolas" pitchFamily="34" charset="-122"/>
                <a:cs typeface="Consolas" pitchFamily="34" charset="-120"/>
              </a:rPr>
              <a:t>            d_safe = temas(0.3737) + L(0.10) + marj(0.05) = 0.5237</a:t>
            </a:r>
            <a:endParaRPr lang="en-US" sz="1350" dirty="0"/>
          </a:p>
        </p:txBody>
      </p:sp>
      <p:sp>
        <p:nvSpPr>
          <p:cNvPr id="5" name="Text 3"/>
          <p:cNvSpPr/>
          <p:nvPr/>
        </p:nvSpPr>
        <p:spPr>
          <a:xfrm>
            <a:off x="548640" y="3063240"/>
            <a:ext cx="6492240" cy="1188720"/>
          </a:xfrm>
          <a:prstGeom prst="rect">
            <a:avLst/>
          </a:prstGeom>
          <a:noFill/>
          <a:ln/>
        </p:spPr>
        <p:txBody>
          <a:bodyPr wrap="square" rtlCol="0" anchor="t"/>
          <a:lstStyle/>
          <a:p>
            <a:pPr algn="l" indent="0" marL="0">
              <a:lnSpc>
                <a:spcPct val="118000"/>
              </a:lnSpc>
              <a:buNone/>
            </a:pPr>
            <a:r>
              <a:rPr lang="en-US" sz="1500" dirty="0">
                <a:solidFill>
                  <a:srgbClr val="262626"/>
                </a:solidFill>
                <a:latin typeface="Calibri" pitchFamily="34" charset="0"/>
                <a:ea typeface="Calibri" pitchFamily="34" charset="-122"/>
                <a:cs typeface="Calibri" pitchFamily="34" charset="-120"/>
              </a:rPr>
              <a:t>Sistem nonlineer ama control-affine: g(x) içinde cos θ, sin θ var, sabit B matrisi değil. Kısıtın u'da lineer olması bu yapıdan geliyor.</a:t>
            </a:r>
            <a:endParaRPr lang="en-US" sz="1500" dirty="0"/>
          </a:p>
        </p:txBody>
      </p:sp>
      <p:sp>
        <p:nvSpPr>
          <p:cNvPr id="6" name="Shape 4"/>
          <p:cNvSpPr/>
          <p:nvPr/>
        </p:nvSpPr>
        <p:spPr>
          <a:xfrm>
            <a:off x="548640" y="4434840"/>
            <a:ext cx="6492240" cy="868680"/>
          </a:xfrm>
          <a:prstGeom prst="roundRect">
            <a:avLst>
              <a:gd name="adj" fmla="val 5263"/>
            </a:avLst>
          </a:prstGeom>
          <a:solidFill>
            <a:srgbClr val="DEEBF7"/>
          </a:solidFill>
          <a:ln w="12700">
            <a:solidFill>
              <a:srgbClr val="2E74B5"/>
            </a:solidFill>
            <a:prstDash val="solid"/>
          </a:ln>
        </p:spPr>
      </p:sp>
      <p:sp>
        <p:nvSpPr>
          <p:cNvPr id="7" name="Text 5"/>
          <p:cNvSpPr/>
          <p:nvPr/>
        </p:nvSpPr>
        <p:spPr>
          <a:xfrm>
            <a:off x="749808" y="4507992"/>
            <a:ext cx="6089904" cy="722376"/>
          </a:xfrm>
          <a:prstGeom prst="rect">
            <a:avLst/>
          </a:prstGeom>
          <a:noFill/>
          <a:ln/>
        </p:spPr>
        <p:txBody>
          <a:bodyPr wrap="square" rtlCol="0" anchor="ctr"/>
          <a:lstStyle/>
          <a:p>
            <a:pPr indent="0" marL="0">
              <a:lnSpc>
                <a:spcPct val="112000"/>
              </a:lnSpc>
              <a:buNone/>
            </a:pPr>
            <a:r>
              <a:rPr lang="en-US" sz="1400" i="1" dirty="0">
                <a:solidFill>
                  <a:srgbClr val="262626"/>
                </a:solidFill>
                <a:latin typeface="Calibri" pitchFamily="34" charset="0"/>
                <a:ea typeface="Calibri" pitchFamily="34" charset="-122"/>
                <a:cs typeface="Calibri" pitchFamily="34" charset="-120"/>
              </a:rPr>
              <a:t>QP'nin çözdüğü geometri: yarı-düzlem (güvenlik) ∩ kutu (donanım) içinde u_nom'a en yakın nokta.</a:t>
            </a:r>
            <a:endParaRPr lang="en-US" sz="1400" dirty="0"/>
          </a:p>
        </p:txBody>
      </p:sp>
      <p:sp>
        <p:nvSpPr>
          <p:cNvPr id="8" name="Shape 6"/>
          <p:cNvSpPr/>
          <p:nvPr/>
        </p:nvSpPr>
        <p:spPr>
          <a:xfrm>
            <a:off x="7498080" y="1325880"/>
            <a:ext cx="4144975" cy="4160520"/>
          </a:xfrm>
          <a:prstGeom prst="rect">
            <a:avLst/>
          </a:prstGeom>
          <a:solidFill>
            <a:srgbClr val="FFFFFF"/>
          </a:solidFill>
          <a:ln w="9525">
            <a:solidFill>
              <a:srgbClr val="D9D9D9"/>
            </a:solidFill>
            <a:prstDash val="solid"/>
          </a:ln>
        </p:spPr>
      </p:sp>
      <p:sp>
        <p:nvSpPr>
          <p:cNvPr id="9" name="Shape 7"/>
          <p:cNvSpPr/>
          <p:nvPr/>
        </p:nvSpPr>
        <p:spPr>
          <a:xfrm>
            <a:off x="7726680" y="3406140"/>
            <a:ext cx="3504895" cy="0"/>
          </a:xfrm>
          <a:prstGeom prst="line">
            <a:avLst/>
          </a:prstGeom>
          <a:noFill/>
          <a:ln w="15875">
            <a:solidFill>
              <a:srgbClr val="6B6B6B"/>
            </a:solidFill>
            <a:prstDash val="solid"/>
            <a:tailEnd type="triangle"/>
          </a:ln>
        </p:spPr>
      </p:sp>
      <p:sp>
        <p:nvSpPr>
          <p:cNvPr id="10" name="Text 8"/>
          <p:cNvSpPr/>
          <p:nvPr/>
        </p:nvSpPr>
        <p:spPr>
          <a:xfrm>
            <a:off x="11259007" y="3076956"/>
            <a:ext cx="320040" cy="292608"/>
          </a:xfrm>
          <a:prstGeom prst="rect">
            <a:avLst/>
          </a:prstGeom>
          <a:noFill/>
          <a:ln/>
        </p:spPr>
        <p:txBody>
          <a:bodyPr wrap="square" rtlCol="0" anchor="ctr"/>
          <a:lstStyle/>
          <a:p>
            <a:pPr indent="0" marL="0">
              <a:buNone/>
            </a:pPr>
            <a:r>
              <a:rPr lang="en-US" sz="1400" i="1" dirty="0">
                <a:solidFill>
                  <a:srgbClr val="262626"/>
                </a:solidFill>
                <a:latin typeface="Consolas" pitchFamily="34" charset="0"/>
                <a:ea typeface="Consolas" pitchFamily="34" charset="-122"/>
                <a:cs typeface="Consolas" pitchFamily="34" charset="-120"/>
              </a:rPr>
              <a:t>v</a:t>
            </a:r>
            <a:endParaRPr lang="en-US" sz="1400" dirty="0"/>
          </a:p>
        </p:txBody>
      </p:sp>
      <p:sp>
        <p:nvSpPr>
          <p:cNvPr id="11" name="Shape 9"/>
          <p:cNvSpPr/>
          <p:nvPr/>
        </p:nvSpPr>
        <p:spPr>
          <a:xfrm>
            <a:off x="8275320" y="5212080"/>
            <a:ext cx="0" cy="-3611880"/>
          </a:xfrm>
          <a:prstGeom prst="line">
            <a:avLst/>
          </a:prstGeom>
          <a:noFill/>
          <a:ln w="15875">
            <a:solidFill>
              <a:srgbClr val="6B6B6B"/>
            </a:solidFill>
            <a:prstDash val="solid"/>
            <a:tailEnd type="triangle"/>
          </a:ln>
        </p:spPr>
      </p:sp>
      <p:sp>
        <p:nvSpPr>
          <p:cNvPr id="12" name="Text 10"/>
          <p:cNvSpPr/>
          <p:nvPr/>
        </p:nvSpPr>
        <p:spPr>
          <a:xfrm>
            <a:off x="7982712" y="1380744"/>
            <a:ext cx="320040" cy="292608"/>
          </a:xfrm>
          <a:prstGeom prst="rect">
            <a:avLst/>
          </a:prstGeom>
          <a:noFill/>
          <a:ln/>
        </p:spPr>
        <p:txBody>
          <a:bodyPr wrap="square" rtlCol="0" anchor="ctr"/>
          <a:lstStyle/>
          <a:p>
            <a:pPr indent="0" marL="0">
              <a:buNone/>
            </a:pPr>
            <a:r>
              <a:rPr lang="en-US" sz="1400" i="1" dirty="0">
                <a:solidFill>
                  <a:srgbClr val="262626"/>
                </a:solidFill>
                <a:latin typeface="Consolas" pitchFamily="34" charset="0"/>
                <a:ea typeface="Consolas" pitchFamily="34" charset="-122"/>
                <a:cs typeface="Consolas" pitchFamily="34" charset="-120"/>
              </a:rPr>
              <a:t>ω</a:t>
            </a:r>
            <a:endParaRPr lang="en-US" sz="1400" dirty="0"/>
          </a:p>
        </p:txBody>
      </p:sp>
      <p:sp>
        <p:nvSpPr>
          <p:cNvPr id="13" name="Shape 11"/>
          <p:cNvSpPr/>
          <p:nvPr/>
        </p:nvSpPr>
        <p:spPr>
          <a:xfrm>
            <a:off x="8275320" y="2331720"/>
            <a:ext cx="1965960" cy="2148840"/>
          </a:xfrm>
          <a:prstGeom prst="rect">
            <a:avLst/>
          </a:prstGeom>
          <a:ln w="15875">
            <a:solidFill>
              <a:srgbClr val="1F3864"/>
            </a:solidFill>
            <a:prstDash val="dash"/>
          </a:ln>
        </p:spPr>
      </p:sp>
      <p:sp>
        <p:nvSpPr>
          <p:cNvPr id="14" name="Shape 12"/>
          <p:cNvSpPr/>
          <p:nvPr/>
        </p:nvSpPr>
        <p:spPr>
          <a:xfrm>
            <a:off x="8275320" y="3520440"/>
            <a:ext cx="1234440" cy="960120"/>
          </a:xfrm>
          <a:prstGeom prst="rtTriangle">
            <a:avLst/>
          </a:prstGeom>
          <a:solidFill>
            <a:srgbClr val="FBE4E4">
              <a:alpha val="85000"/>
            </a:srgbClr>
          </a:solidFill>
          <a:ln/>
        </p:spPr>
      </p:sp>
      <p:sp>
        <p:nvSpPr>
          <p:cNvPr id="15" name="Shape 13"/>
          <p:cNvSpPr/>
          <p:nvPr/>
        </p:nvSpPr>
        <p:spPr>
          <a:xfrm>
            <a:off x="8275320" y="3520440"/>
            <a:ext cx="1234440" cy="960120"/>
          </a:xfrm>
          <a:prstGeom prst="line">
            <a:avLst/>
          </a:prstGeom>
          <a:noFill/>
          <a:ln w="25400">
            <a:solidFill>
              <a:srgbClr val="C0392B"/>
            </a:solidFill>
            <a:prstDash val="solid"/>
          </a:ln>
        </p:spPr>
      </p:sp>
      <p:sp>
        <p:nvSpPr>
          <p:cNvPr id="16" name="Shape 14"/>
          <p:cNvSpPr/>
          <p:nvPr/>
        </p:nvSpPr>
        <p:spPr>
          <a:xfrm>
            <a:off x="8522208" y="4187952"/>
            <a:ext cx="91440" cy="91440"/>
          </a:xfrm>
          <a:prstGeom prst="ellipse">
            <a:avLst/>
          </a:prstGeom>
          <a:solidFill>
            <a:srgbClr val="C0392B"/>
          </a:solidFill>
          <a:ln/>
        </p:spPr>
      </p:sp>
      <p:sp>
        <p:nvSpPr>
          <p:cNvPr id="17" name="Text 15"/>
          <p:cNvSpPr/>
          <p:nvPr/>
        </p:nvSpPr>
        <p:spPr>
          <a:xfrm>
            <a:off x="7882128" y="4288536"/>
            <a:ext cx="777240" cy="256032"/>
          </a:xfrm>
          <a:prstGeom prst="rect">
            <a:avLst/>
          </a:prstGeom>
          <a:noFill/>
          <a:ln/>
        </p:spPr>
        <p:txBody>
          <a:bodyPr wrap="square" rtlCol="0" anchor="ctr"/>
          <a:lstStyle/>
          <a:p>
            <a:pPr algn="r" indent="0" marL="0">
              <a:buNone/>
            </a:pPr>
            <a:r>
              <a:rPr lang="en-US" sz="1150" dirty="0">
                <a:solidFill>
                  <a:srgbClr val="C0392B"/>
                </a:solidFill>
                <a:latin typeface="Consolas" pitchFamily="34" charset="0"/>
                <a:ea typeface="Consolas" pitchFamily="34" charset="-122"/>
                <a:cs typeface="Consolas" pitchFamily="34" charset="-120"/>
              </a:rPr>
              <a:t>u_nom</a:t>
            </a:r>
            <a:endParaRPr lang="en-US" sz="1150" dirty="0"/>
          </a:p>
        </p:txBody>
      </p:sp>
      <p:sp>
        <p:nvSpPr>
          <p:cNvPr id="18" name="Shape 16"/>
          <p:cNvSpPr/>
          <p:nvPr/>
        </p:nvSpPr>
        <p:spPr>
          <a:xfrm>
            <a:off x="8908542" y="4002786"/>
            <a:ext cx="91440" cy="91440"/>
          </a:xfrm>
          <a:prstGeom prst="ellipse">
            <a:avLst/>
          </a:prstGeom>
          <a:solidFill>
            <a:srgbClr val="2E74B5"/>
          </a:solidFill>
          <a:ln/>
        </p:spPr>
      </p:sp>
      <p:sp>
        <p:nvSpPr>
          <p:cNvPr id="19" name="Text 17"/>
          <p:cNvSpPr/>
          <p:nvPr/>
        </p:nvSpPr>
        <p:spPr>
          <a:xfrm>
            <a:off x="9027414" y="3755898"/>
            <a:ext cx="548640" cy="256032"/>
          </a:xfrm>
          <a:prstGeom prst="rect">
            <a:avLst/>
          </a:prstGeom>
          <a:noFill/>
          <a:ln/>
        </p:spPr>
        <p:txBody>
          <a:bodyPr wrap="square" rtlCol="0" anchor="ctr"/>
          <a:lstStyle/>
          <a:p>
            <a:pPr indent="0" marL="0">
              <a:buNone/>
            </a:pPr>
            <a:r>
              <a:rPr lang="en-US" sz="1250" b="1" dirty="0">
                <a:solidFill>
                  <a:srgbClr val="2E74B5"/>
                </a:solidFill>
                <a:latin typeface="Consolas" pitchFamily="34" charset="0"/>
                <a:ea typeface="Consolas" pitchFamily="34" charset="-122"/>
                <a:cs typeface="Consolas" pitchFamily="34" charset="-120"/>
              </a:rPr>
              <a:t>u*</a:t>
            </a:r>
            <a:endParaRPr lang="en-US" sz="1250" dirty="0"/>
          </a:p>
        </p:txBody>
      </p:sp>
      <p:sp>
        <p:nvSpPr>
          <p:cNvPr id="20" name="Shape 18"/>
          <p:cNvSpPr/>
          <p:nvPr/>
        </p:nvSpPr>
        <p:spPr>
          <a:xfrm>
            <a:off x="8567928" y="4233672"/>
            <a:ext cx="386334" cy="-185166"/>
          </a:xfrm>
          <a:prstGeom prst="line">
            <a:avLst/>
          </a:prstGeom>
          <a:noFill/>
          <a:ln w="12700">
            <a:solidFill>
              <a:srgbClr val="6B6B6B"/>
            </a:solidFill>
            <a:prstDash val="dash"/>
            <a:tailEnd type="triangle"/>
          </a:ln>
        </p:spPr>
      </p:sp>
      <p:sp>
        <p:nvSpPr>
          <p:cNvPr id="21" name="Text 19"/>
          <p:cNvSpPr/>
          <p:nvPr/>
        </p:nvSpPr>
        <p:spPr>
          <a:xfrm>
            <a:off x="7498080" y="5559552"/>
            <a:ext cx="4144975" cy="365760"/>
          </a:xfrm>
          <a:prstGeom prst="rect">
            <a:avLst/>
          </a:prstGeom>
          <a:noFill/>
          <a:ln/>
        </p:spPr>
        <p:txBody>
          <a:bodyPr wrap="square" rtlCol="0" anchor="ctr"/>
          <a:lstStyle/>
          <a:p>
            <a:pPr algn="ctr" indent="0" marL="0">
              <a:buNone/>
            </a:pPr>
            <a:r>
              <a:rPr lang="en-US" sz="1050" dirty="0">
                <a:solidFill>
                  <a:srgbClr val="6B6B6B"/>
                </a:solidFill>
                <a:latin typeface="Calibri" pitchFamily="34" charset="0"/>
                <a:ea typeface="Calibri" pitchFamily="34" charset="-122"/>
                <a:cs typeface="Calibri" pitchFamily="34" charset="-120"/>
              </a:rPr>
              <a:t>kutu = girdi kısıtı U        gölgeli bölge = güvenlik ihlali</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58368"/>
          </a:xfrm>
          <a:prstGeom prst="rect">
            <a:avLst/>
          </a:prstGeom>
          <a:noFill/>
          <a:ln/>
        </p:spPr>
        <p:txBody>
          <a:bodyPr wrap="square" rtlCol="0" anchor="t"/>
          <a:lstStyle/>
          <a:p>
            <a:pPr algn="l" indent="0" marL="0">
              <a:buNone/>
            </a:pPr>
            <a:r>
              <a:rPr lang="en-US" sz="2600" b="1" dirty="0">
                <a:solidFill>
                  <a:srgbClr val="1F3864"/>
                </a:solidFill>
                <a:latin typeface="Calibri" pitchFamily="34" charset="0"/>
                <a:ea typeface="Calibri" pitchFamily="34" charset="-122"/>
                <a:cs typeface="Calibri" pitchFamily="34" charset="-120"/>
              </a:rPr>
              <a:t>Relative Degree ve Lookahead Onarımı</a:t>
            </a:r>
            <a:endParaRPr lang="en-US" sz="2600" dirty="0"/>
          </a:p>
        </p:txBody>
      </p:sp>
      <p:sp>
        <p:nvSpPr>
          <p:cNvPr id="3" name="Text 1"/>
          <p:cNvSpPr/>
          <p:nvPr/>
        </p:nvSpPr>
        <p:spPr>
          <a:xfrm>
            <a:off x="548640" y="1234440"/>
            <a:ext cx="11094415" cy="365760"/>
          </a:xfrm>
          <a:prstGeom prst="rect">
            <a:avLst/>
          </a:prstGeom>
          <a:noFill/>
          <a:ln/>
        </p:spPr>
        <p:txBody>
          <a:bodyPr wrap="square" rtlCol="0" anchor="t"/>
          <a:lstStyle/>
          <a:p>
            <a:pPr algn="l" indent="0" marL="0">
              <a:lnSpc>
                <a:spcPct val="118000"/>
              </a:lnSpc>
              <a:buNone/>
            </a:pPr>
            <a:r>
              <a:rPr lang="en-US" sz="1550" dirty="0">
                <a:solidFill>
                  <a:srgbClr val="262626"/>
                </a:solidFill>
                <a:latin typeface="Calibri" pitchFamily="34" charset="0"/>
                <a:ea typeface="Calibri" pitchFamily="34" charset="-122"/>
                <a:cs typeface="Calibri" pitchFamily="34" charset="-120"/>
              </a:rPr>
              <a:t>Robot merkezinde yazılan bariyer:</a:t>
            </a:r>
            <a:endParaRPr lang="en-US" sz="1550" dirty="0"/>
          </a:p>
        </p:txBody>
      </p:sp>
      <p:sp>
        <p:nvSpPr>
          <p:cNvPr id="4" name="Shape 2"/>
          <p:cNvSpPr/>
          <p:nvPr/>
        </p:nvSpPr>
        <p:spPr>
          <a:xfrm>
            <a:off x="548640" y="1645920"/>
            <a:ext cx="11094415" cy="513207"/>
          </a:xfrm>
          <a:prstGeom prst="rect">
            <a:avLst/>
          </a:prstGeom>
          <a:solidFill>
            <a:srgbClr val="F2F2F2"/>
          </a:solidFill>
          <a:ln w="9525">
            <a:solidFill>
              <a:srgbClr val="D9D9D9"/>
            </a:solidFill>
            <a:prstDash val="solid"/>
          </a:ln>
        </p:spPr>
      </p:sp>
      <p:sp>
        <p:nvSpPr>
          <p:cNvPr id="5" name="Text 3"/>
          <p:cNvSpPr/>
          <p:nvPr/>
        </p:nvSpPr>
        <p:spPr>
          <a:xfrm>
            <a:off x="731520" y="1737360"/>
            <a:ext cx="10728655" cy="330327"/>
          </a:xfrm>
          <a:prstGeom prst="rect">
            <a:avLst/>
          </a:prstGeom>
          <a:noFill/>
          <a:ln/>
        </p:spPr>
        <p:txBody>
          <a:bodyPr wrap="square" rtlCol="0" anchor="t"/>
          <a:lstStyle/>
          <a:p>
            <a:pPr indent="0" marL="0">
              <a:lnSpc>
                <a:spcPct val="108000"/>
              </a:lnSpc>
              <a:buNone/>
            </a:pPr>
            <a:r>
              <a:rPr lang="en-US" sz="1500" dirty="0">
                <a:solidFill>
                  <a:srgbClr val="262626"/>
                </a:solidFill>
                <a:latin typeface="Consolas" pitchFamily="34" charset="0"/>
                <a:ea typeface="Consolas" pitchFamily="34" charset="-122"/>
                <a:cs typeface="Consolas" pitchFamily="34" charset="-120"/>
              </a:rPr>
              <a:t>h = ‖e‖² − d²    ⟹    ḣ = 2v(e·t̂)        ← ω HİÇ GÖRÜNMÜYOR</a:t>
            </a:r>
            <a:endParaRPr lang="en-US" sz="1500" dirty="0"/>
          </a:p>
        </p:txBody>
      </p:sp>
      <p:sp>
        <p:nvSpPr>
          <p:cNvPr id="6" name="Text 4"/>
          <p:cNvSpPr/>
          <p:nvPr/>
        </p:nvSpPr>
        <p:spPr>
          <a:xfrm>
            <a:off x="548640" y="2331720"/>
            <a:ext cx="11094415" cy="457200"/>
          </a:xfrm>
          <a:prstGeom prst="rect">
            <a:avLst/>
          </a:prstGeom>
          <a:noFill/>
          <a:ln/>
        </p:spPr>
        <p:txBody>
          <a:bodyPr wrap="square" rtlCol="0" anchor="t"/>
          <a:lstStyle/>
          <a:p>
            <a:pPr algn="l" indent="0" marL="0">
              <a:lnSpc>
                <a:spcPct val="118000"/>
              </a:lnSpc>
              <a:buNone/>
            </a:pPr>
            <a:r>
              <a:rPr lang="en-US" sz="1550" i="1" dirty="0">
                <a:solidFill>
                  <a:srgbClr val="6B6B6B"/>
                </a:solidFill>
                <a:latin typeface="Calibri" pitchFamily="34" charset="0"/>
                <a:ea typeface="Calibri" pitchFamily="34" charset="-122"/>
                <a:cs typeface="Calibri" pitchFamily="34" charset="-120"/>
              </a:rPr>
              <a:t>Kısıt dönüşü kısıtlayamıyor; filtrenin tek yapabildiği frenlemek.</a:t>
            </a:r>
            <a:endParaRPr lang="en-US" sz="1550" dirty="0"/>
          </a:p>
        </p:txBody>
      </p:sp>
      <p:sp>
        <p:nvSpPr>
          <p:cNvPr id="7" name="Text 5"/>
          <p:cNvSpPr/>
          <p:nvPr/>
        </p:nvSpPr>
        <p:spPr>
          <a:xfrm>
            <a:off x="548640" y="2926080"/>
            <a:ext cx="11094415" cy="365760"/>
          </a:xfrm>
          <a:prstGeom prst="rect">
            <a:avLst/>
          </a:prstGeom>
          <a:noFill/>
          <a:ln/>
        </p:spPr>
        <p:txBody>
          <a:bodyPr wrap="square" rtlCol="0" anchor="t"/>
          <a:lstStyle/>
          <a:p>
            <a:pPr algn="l" indent="0" marL="0">
              <a:lnSpc>
                <a:spcPct val="118000"/>
              </a:lnSpc>
              <a:buNone/>
            </a:pPr>
            <a:r>
              <a:rPr lang="en-US" sz="1550" b="1" dirty="0">
                <a:solidFill>
                  <a:srgbClr val="2E74B5"/>
                </a:solidFill>
                <a:latin typeface="Calibri" pitchFamily="34" charset="0"/>
                <a:ea typeface="Calibri" pitchFamily="34" charset="-122"/>
                <a:cs typeface="Calibri" pitchFamily="34" charset="-120"/>
              </a:rPr>
              <a:t>Lookahead onarımı:</a:t>
            </a:r>
            <a:endParaRPr lang="en-US" sz="1550" dirty="0"/>
          </a:p>
        </p:txBody>
      </p:sp>
      <p:sp>
        <p:nvSpPr>
          <p:cNvPr id="8" name="Shape 6"/>
          <p:cNvSpPr/>
          <p:nvPr/>
        </p:nvSpPr>
        <p:spPr>
          <a:xfrm>
            <a:off x="548640" y="3337560"/>
            <a:ext cx="11094415" cy="770382"/>
          </a:xfrm>
          <a:prstGeom prst="rect">
            <a:avLst/>
          </a:prstGeom>
          <a:solidFill>
            <a:srgbClr val="F2F2F2"/>
          </a:solidFill>
          <a:ln w="9525">
            <a:solidFill>
              <a:srgbClr val="D9D9D9"/>
            </a:solidFill>
            <a:prstDash val="solid"/>
          </a:ln>
        </p:spPr>
      </p:sp>
      <p:sp>
        <p:nvSpPr>
          <p:cNvPr id="9" name="Text 7"/>
          <p:cNvSpPr/>
          <p:nvPr/>
        </p:nvSpPr>
        <p:spPr>
          <a:xfrm>
            <a:off x="731520" y="3429000"/>
            <a:ext cx="10728655" cy="587502"/>
          </a:xfrm>
          <a:prstGeom prst="rect">
            <a:avLst/>
          </a:prstGeom>
          <a:noFill/>
          <a:ln/>
        </p:spPr>
        <p:txBody>
          <a:bodyPr wrap="square" rtlCol="0" anchor="t"/>
          <a:lstStyle/>
          <a:p>
            <a:pPr indent="0" marL="0">
              <a:lnSpc>
                <a:spcPct val="108000"/>
              </a:lnSpc>
              <a:buNone/>
            </a:pPr>
            <a:r>
              <a:rPr lang="en-US" sz="1500" dirty="0">
                <a:solidFill>
                  <a:srgbClr val="262626"/>
                </a:solidFill>
                <a:latin typeface="Consolas" pitchFamily="34" charset="0"/>
                <a:ea typeface="Consolas" pitchFamily="34" charset="-122"/>
                <a:cs typeface="Consolas" pitchFamily="34" charset="-120"/>
              </a:rPr>
              <a:t>p_eff = (x + L cos θ,  y + L sin θ)</a:t>
            </a:r>
            <a:endParaRPr lang="en-US" sz="1500" dirty="0"/>
          </a:p>
          <a:p>
            <a:pPr indent="0" marL="0">
              <a:lnSpc>
                <a:spcPct val="108000"/>
              </a:lnSpc>
              <a:buNone/>
            </a:pPr>
            <a:r>
              <a:rPr lang="en-US" sz="1500" dirty="0">
                <a:solidFill>
                  <a:srgbClr val="262626"/>
                </a:solidFill>
                <a:latin typeface="Consolas" pitchFamily="34" charset="0"/>
                <a:ea typeface="Consolas" pitchFamily="34" charset="-122"/>
                <a:cs typeface="Consolas" pitchFamily="34" charset="-120"/>
              </a:rPr>
              <a:t>ṗ_eff = v·t̂ + Lω·n̂                       ← ω türeve giriyor</a:t>
            </a:r>
            <a:endParaRPr lang="en-US" sz="1500" dirty="0"/>
          </a:p>
        </p:txBody>
      </p:sp>
      <p:sp>
        <p:nvSpPr>
          <p:cNvPr id="10" name="Shape 8"/>
          <p:cNvSpPr/>
          <p:nvPr/>
        </p:nvSpPr>
        <p:spPr>
          <a:xfrm>
            <a:off x="548640" y="4663440"/>
            <a:ext cx="11094415" cy="1417320"/>
          </a:xfrm>
          <a:prstGeom prst="roundRect">
            <a:avLst>
              <a:gd name="adj" fmla="val 3226"/>
            </a:avLst>
          </a:prstGeom>
          <a:solidFill>
            <a:srgbClr val="FFF2CC"/>
          </a:solidFill>
          <a:ln w="12700">
            <a:solidFill>
              <a:srgbClr val="BF8F00"/>
            </a:solidFill>
            <a:prstDash val="solid"/>
          </a:ln>
        </p:spPr>
      </p:sp>
      <p:sp>
        <p:nvSpPr>
          <p:cNvPr id="11" name="Text 9"/>
          <p:cNvSpPr/>
          <p:nvPr/>
        </p:nvSpPr>
        <p:spPr>
          <a:xfrm>
            <a:off x="749808" y="4736592"/>
            <a:ext cx="10692079" cy="1271016"/>
          </a:xfrm>
          <a:prstGeom prst="rect">
            <a:avLst/>
          </a:prstGeom>
          <a:noFill/>
          <a:ln/>
        </p:spPr>
        <p:txBody>
          <a:bodyPr wrap="square" rtlCol="0" anchor="ctr"/>
          <a:lstStyle/>
          <a:p>
            <a:pPr indent="0" marL="0">
              <a:lnSpc>
                <a:spcPct val="112000"/>
              </a:lnSpc>
              <a:buNone/>
            </a:pPr>
            <a:r>
              <a:rPr lang="en-US" sz="1500" dirty="0">
                <a:solidFill>
                  <a:srgbClr val="262626"/>
                </a:solidFill>
                <a:latin typeface="Calibri" pitchFamily="34" charset="0"/>
                <a:ea typeface="Calibri" pitchFamily="34" charset="-122"/>
                <a:cs typeface="Calibri" pitchFamily="34" charset="-120"/>
              </a:rPr>
              <a:t>Onarımın bedeli: CBF ‖p_eff − p_o‖ ≥ d_safe garanti eder; ama çarpışan şey gövde, ve gövde p_eff'ten L kadar geride. d_safe'e L payı eklenmek zorunda. L, gövde marjı ile kontrol yetkisi arasında bir takas yaratıyor.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58368"/>
          </a:xfrm>
          <a:prstGeom prst="rect">
            <a:avLst/>
          </a:prstGeom>
          <a:noFill/>
          <a:ln/>
        </p:spPr>
        <p:txBody>
          <a:bodyPr wrap="square" rtlCol="0" anchor="t"/>
          <a:lstStyle/>
          <a:p>
            <a:pPr algn="l" indent="0" marL="0">
              <a:buNone/>
            </a:pPr>
            <a:r>
              <a:rPr lang="en-US" sz="2600" b="1" dirty="0">
                <a:solidFill>
                  <a:srgbClr val="1F3864"/>
                </a:solidFill>
                <a:latin typeface="Calibri" pitchFamily="34" charset="0"/>
                <a:ea typeface="Calibri" pitchFamily="34" charset="-122"/>
                <a:cs typeface="Calibri" pitchFamily="34" charset="-120"/>
              </a:rPr>
              <a:t>Mimari</a:t>
            </a:r>
            <a:endParaRPr lang="en-US" sz="2600" dirty="0"/>
          </a:p>
        </p:txBody>
      </p:sp>
      <p:sp>
        <p:nvSpPr>
          <p:cNvPr id="3" name="Shape 1"/>
          <p:cNvSpPr/>
          <p:nvPr/>
        </p:nvSpPr>
        <p:spPr>
          <a:xfrm>
            <a:off x="3809848" y="1417320"/>
            <a:ext cx="4572000" cy="777240"/>
          </a:xfrm>
          <a:prstGeom prst="roundRect">
            <a:avLst>
              <a:gd name="adj" fmla="val 7059"/>
            </a:avLst>
          </a:prstGeom>
          <a:solidFill>
            <a:srgbClr val="F7F9FC"/>
          </a:solidFill>
          <a:ln w="15875">
            <a:solidFill>
              <a:srgbClr val="6B6B6B"/>
            </a:solidFill>
            <a:prstDash val="solid"/>
          </a:ln>
        </p:spPr>
      </p:sp>
      <p:sp>
        <p:nvSpPr>
          <p:cNvPr id="4" name="Text 2"/>
          <p:cNvSpPr/>
          <p:nvPr/>
        </p:nvSpPr>
        <p:spPr>
          <a:xfrm>
            <a:off x="3947008" y="1417320"/>
            <a:ext cx="4297680" cy="777240"/>
          </a:xfrm>
          <a:prstGeom prst="rect">
            <a:avLst/>
          </a:prstGeom>
          <a:noFill/>
          <a:ln/>
        </p:spPr>
        <p:txBody>
          <a:bodyPr wrap="square" rtlCol="0" anchor="ctr"/>
          <a:lstStyle/>
          <a:p>
            <a:pPr algn="ctr" indent="0" marL="0">
              <a:lnSpc>
                <a:spcPct val="105000"/>
              </a:lnSpc>
              <a:buNone/>
            </a:pPr>
            <a:r>
              <a:rPr lang="en-US" sz="1450" b="1" dirty="0">
                <a:solidFill>
                  <a:srgbClr val="262626"/>
                </a:solidFill>
                <a:latin typeface="Calibri" pitchFamily="34" charset="0"/>
                <a:ea typeface="Calibri" pitchFamily="34" charset="-122"/>
                <a:cs typeface="Calibri" pitchFamily="34" charset="-120"/>
              </a:rPr>
              <a:t>Nominal kontrolcü</a:t>
            </a:r>
            <a:endParaRPr lang="en-US" sz="1450" dirty="0"/>
          </a:p>
          <a:p>
            <a:pPr algn="ctr" indent="0" marL="0">
              <a:lnSpc>
                <a:spcPct val="105000"/>
              </a:lnSpc>
              <a:buNone/>
            </a:pPr>
            <a:r>
              <a:rPr lang="en-US" sz="1450" b="1" dirty="0">
                <a:solidFill>
                  <a:srgbClr val="262626"/>
                </a:solidFill>
                <a:latin typeface="Calibri" pitchFamily="34" charset="0"/>
                <a:ea typeface="Calibri" pitchFamily="34" charset="-122"/>
                <a:cs typeface="Calibri" pitchFamily="34" charset="-120"/>
              </a:rPr>
              <a:t>(hedefe yönelme, ENGELDEN HABERSİZ)</a:t>
            </a:r>
            <a:endParaRPr lang="en-US" sz="1450" dirty="0"/>
          </a:p>
        </p:txBody>
      </p:sp>
      <p:sp>
        <p:nvSpPr>
          <p:cNvPr id="5" name="Shape 3"/>
          <p:cNvSpPr/>
          <p:nvPr/>
        </p:nvSpPr>
        <p:spPr>
          <a:xfrm>
            <a:off x="3809848" y="2880360"/>
            <a:ext cx="4572000" cy="777240"/>
          </a:xfrm>
          <a:prstGeom prst="roundRect">
            <a:avLst>
              <a:gd name="adj" fmla="val 7059"/>
            </a:avLst>
          </a:prstGeom>
          <a:solidFill>
            <a:srgbClr val="DEEBF7"/>
          </a:solidFill>
          <a:ln w="15875">
            <a:solidFill>
              <a:srgbClr val="2E74B5"/>
            </a:solidFill>
            <a:prstDash val="solid"/>
          </a:ln>
        </p:spPr>
      </p:sp>
      <p:sp>
        <p:nvSpPr>
          <p:cNvPr id="6" name="Text 4"/>
          <p:cNvSpPr/>
          <p:nvPr/>
        </p:nvSpPr>
        <p:spPr>
          <a:xfrm>
            <a:off x="3947008" y="2880360"/>
            <a:ext cx="4297680" cy="777240"/>
          </a:xfrm>
          <a:prstGeom prst="rect">
            <a:avLst/>
          </a:prstGeom>
          <a:noFill/>
          <a:ln/>
        </p:spPr>
        <p:txBody>
          <a:bodyPr wrap="square" rtlCol="0" anchor="ctr"/>
          <a:lstStyle/>
          <a:p>
            <a:pPr algn="ctr" indent="0" marL="0">
              <a:lnSpc>
                <a:spcPct val="105000"/>
              </a:lnSpc>
              <a:buNone/>
            </a:pPr>
            <a:r>
              <a:rPr lang="en-US" sz="1450" b="1" dirty="0">
                <a:solidFill>
                  <a:srgbClr val="1F3864"/>
                </a:solidFill>
                <a:latin typeface="Calibri" pitchFamily="34" charset="0"/>
                <a:ea typeface="Calibri" pitchFamily="34" charset="-122"/>
                <a:cs typeface="Calibri" pitchFamily="34" charset="-120"/>
              </a:rPr>
              <a:t>CBF-QP güvenlik filtresi</a:t>
            </a:r>
            <a:endParaRPr lang="en-US" sz="1450" dirty="0"/>
          </a:p>
        </p:txBody>
      </p:sp>
      <p:sp>
        <p:nvSpPr>
          <p:cNvPr id="7" name="Shape 5"/>
          <p:cNvSpPr/>
          <p:nvPr/>
        </p:nvSpPr>
        <p:spPr>
          <a:xfrm>
            <a:off x="3809848" y="4343400"/>
            <a:ext cx="4572000" cy="777240"/>
          </a:xfrm>
          <a:prstGeom prst="roundRect">
            <a:avLst>
              <a:gd name="adj" fmla="val 7059"/>
            </a:avLst>
          </a:prstGeom>
          <a:solidFill>
            <a:srgbClr val="F7F9FC"/>
          </a:solidFill>
          <a:ln w="15875">
            <a:solidFill>
              <a:srgbClr val="6B6B6B"/>
            </a:solidFill>
            <a:prstDash val="solid"/>
          </a:ln>
        </p:spPr>
      </p:sp>
      <p:sp>
        <p:nvSpPr>
          <p:cNvPr id="8" name="Text 6"/>
          <p:cNvSpPr/>
          <p:nvPr/>
        </p:nvSpPr>
        <p:spPr>
          <a:xfrm>
            <a:off x="3947008" y="4343400"/>
            <a:ext cx="4297680" cy="777240"/>
          </a:xfrm>
          <a:prstGeom prst="rect">
            <a:avLst/>
          </a:prstGeom>
          <a:noFill/>
          <a:ln/>
        </p:spPr>
        <p:txBody>
          <a:bodyPr wrap="square" rtlCol="0" anchor="ctr"/>
          <a:lstStyle/>
          <a:p>
            <a:pPr algn="ctr" indent="0" marL="0">
              <a:lnSpc>
                <a:spcPct val="105000"/>
              </a:lnSpc>
              <a:buNone/>
            </a:pPr>
            <a:r>
              <a:rPr lang="en-US" sz="1450" b="1" dirty="0">
                <a:solidFill>
                  <a:srgbClr val="262626"/>
                </a:solidFill>
                <a:latin typeface="Calibri" pitchFamily="34" charset="0"/>
                <a:ea typeface="Calibri" pitchFamily="34" charset="-122"/>
                <a:cs typeface="Calibri" pitchFamily="34" charset="-120"/>
              </a:rPr>
              <a:t>TurtleBot3 (Gazebo)</a:t>
            </a:r>
            <a:endParaRPr lang="en-US" sz="1450" dirty="0"/>
          </a:p>
        </p:txBody>
      </p:sp>
      <p:sp>
        <p:nvSpPr>
          <p:cNvPr id="9" name="Shape 7"/>
          <p:cNvSpPr/>
          <p:nvPr/>
        </p:nvSpPr>
        <p:spPr>
          <a:xfrm>
            <a:off x="6095848" y="2194560"/>
            <a:ext cx="0" cy="685800"/>
          </a:xfrm>
          <a:prstGeom prst="line">
            <a:avLst/>
          </a:prstGeom>
          <a:noFill/>
          <a:ln w="19050">
            <a:solidFill>
              <a:srgbClr val="6B6B6B"/>
            </a:solidFill>
            <a:prstDash val="solid"/>
            <a:tailEnd type="triangle"/>
          </a:ln>
        </p:spPr>
      </p:sp>
      <p:sp>
        <p:nvSpPr>
          <p:cNvPr id="10" name="Text 8"/>
          <p:cNvSpPr/>
          <p:nvPr/>
        </p:nvSpPr>
        <p:spPr>
          <a:xfrm>
            <a:off x="6233008" y="2391156"/>
            <a:ext cx="2926080" cy="292608"/>
          </a:xfrm>
          <a:prstGeom prst="rect">
            <a:avLst/>
          </a:prstGeom>
          <a:noFill/>
          <a:ln/>
        </p:spPr>
        <p:txBody>
          <a:bodyPr wrap="square" rtlCol="0" anchor="ctr"/>
          <a:lstStyle/>
          <a:p>
            <a:pPr indent="0" marL="0">
              <a:buNone/>
            </a:pPr>
            <a:r>
              <a:rPr lang="en-US" sz="1150" dirty="0">
                <a:solidFill>
                  <a:srgbClr val="262626"/>
                </a:solidFill>
                <a:latin typeface="Consolas" pitchFamily="34" charset="0"/>
                <a:ea typeface="Consolas" pitchFamily="34" charset="-122"/>
                <a:cs typeface="Consolas" pitchFamily="34" charset="-120"/>
              </a:rPr>
              <a:t>u_nom = (v_nom, ω_nom)</a:t>
            </a:r>
            <a:endParaRPr lang="en-US" sz="1150" dirty="0"/>
          </a:p>
        </p:txBody>
      </p:sp>
      <p:sp>
        <p:nvSpPr>
          <p:cNvPr id="11" name="Shape 9"/>
          <p:cNvSpPr/>
          <p:nvPr/>
        </p:nvSpPr>
        <p:spPr>
          <a:xfrm>
            <a:off x="6095848" y="3657600"/>
            <a:ext cx="0" cy="685800"/>
          </a:xfrm>
          <a:prstGeom prst="line">
            <a:avLst/>
          </a:prstGeom>
          <a:noFill/>
          <a:ln w="19050">
            <a:solidFill>
              <a:srgbClr val="6B6B6B"/>
            </a:solidFill>
            <a:prstDash val="solid"/>
            <a:tailEnd type="triangle"/>
          </a:ln>
        </p:spPr>
      </p:sp>
      <p:sp>
        <p:nvSpPr>
          <p:cNvPr id="12" name="Text 10"/>
          <p:cNvSpPr/>
          <p:nvPr/>
        </p:nvSpPr>
        <p:spPr>
          <a:xfrm>
            <a:off x="6233008" y="3854196"/>
            <a:ext cx="2926080" cy="292608"/>
          </a:xfrm>
          <a:prstGeom prst="rect">
            <a:avLst/>
          </a:prstGeom>
          <a:noFill/>
          <a:ln/>
        </p:spPr>
        <p:txBody>
          <a:bodyPr wrap="square" rtlCol="0" anchor="ctr"/>
          <a:lstStyle/>
          <a:p>
            <a:pPr indent="0" marL="0">
              <a:buNone/>
            </a:pPr>
            <a:r>
              <a:rPr lang="en-US" sz="1150" dirty="0">
                <a:solidFill>
                  <a:srgbClr val="262626"/>
                </a:solidFill>
                <a:latin typeface="Consolas" pitchFamily="34" charset="0"/>
                <a:ea typeface="Consolas" pitchFamily="34" charset="-122"/>
                <a:cs typeface="Consolas" pitchFamily="34" charset="-120"/>
              </a:rPr>
              <a:t>u_safe = (v_safe, ω_safe)</a:t>
            </a:r>
            <a:endParaRPr lang="en-US" sz="1150" dirty="0"/>
          </a:p>
        </p:txBody>
      </p:sp>
      <p:sp>
        <p:nvSpPr>
          <p:cNvPr id="13" name="Shape 11"/>
          <p:cNvSpPr/>
          <p:nvPr/>
        </p:nvSpPr>
        <p:spPr>
          <a:xfrm>
            <a:off x="8884768" y="2880360"/>
            <a:ext cx="3063240" cy="777240"/>
          </a:xfrm>
          <a:prstGeom prst="roundRect">
            <a:avLst>
              <a:gd name="adj" fmla="val 7059"/>
            </a:avLst>
          </a:prstGeom>
          <a:solidFill>
            <a:srgbClr val="F7F9FC"/>
          </a:solidFill>
          <a:ln w="15875">
            <a:solidFill>
              <a:srgbClr val="6B6B6B"/>
            </a:solidFill>
            <a:prstDash val="solid"/>
          </a:ln>
        </p:spPr>
      </p:sp>
      <p:sp>
        <p:nvSpPr>
          <p:cNvPr id="14" name="Text 12"/>
          <p:cNvSpPr/>
          <p:nvPr/>
        </p:nvSpPr>
        <p:spPr>
          <a:xfrm>
            <a:off x="8976208" y="2880360"/>
            <a:ext cx="2880360" cy="777240"/>
          </a:xfrm>
          <a:prstGeom prst="rect">
            <a:avLst/>
          </a:prstGeom>
          <a:noFill/>
          <a:ln/>
        </p:spPr>
        <p:txBody>
          <a:bodyPr wrap="square" rtlCol="0" anchor="ctr"/>
          <a:lstStyle/>
          <a:p>
            <a:pPr algn="ctr" indent="0" marL="0">
              <a:lnSpc>
                <a:spcPct val="105000"/>
              </a:lnSpc>
              <a:buNone/>
            </a:pPr>
            <a:r>
              <a:rPr lang="en-US" sz="1200" dirty="0">
                <a:solidFill>
                  <a:srgbClr val="262626"/>
                </a:solidFill>
                <a:latin typeface="Calibri" pitchFamily="34" charset="0"/>
                <a:ea typeface="Calibri" pitchFamily="34" charset="-122"/>
                <a:cs typeface="Calibri" pitchFamily="34" charset="-120"/>
              </a:rPr>
              <a:t>Engel durumu</a:t>
            </a:r>
            <a:endParaRPr lang="en-US" sz="1200" dirty="0"/>
          </a:p>
          <a:p>
            <a:pPr algn="ctr" indent="0" marL="0">
              <a:lnSpc>
                <a:spcPct val="105000"/>
              </a:lnSpc>
              <a:buNone/>
            </a:pPr>
            <a:r>
              <a:rPr lang="en-US" sz="1200" dirty="0">
                <a:solidFill>
                  <a:srgbClr val="262626"/>
                </a:solidFill>
                <a:latin typeface="Calibri" pitchFamily="34" charset="0"/>
                <a:ea typeface="Calibri" pitchFamily="34" charset="-122"/>
                <a:cs typeface="Calibri" pitchFamily="34" charset="-120"/>
              </a:rPr>
              <a:t>(ground truth; kestirim</a:t>
            </a:r>
            <a:endParaRPr lang="en-US" sz="1200" dirty="0"/>
          </a:p>
          <a:p>
            <a:pPr algn="ctr" indent="0" marL="0">
              <a:lnSpc>
                <a:spcPct val="105000"/>
              </a:lnSpc>
              <a:buNone/>
            </a:pPr>
            <a:r>
              <a:rPr lang="en-US" sz="1200" dirty="0">
                <a:solidFill>
                  <a:srgbClr val="262626"/>
                </a:solidFill>
                <a:latin typeface="Calibri" pitchFamily="34" charset="0"/>
                <a:ea typeface="Calibri" pitchFamily="34" charset="-122"/>
                <a:cs typeface="Calibri" pitchFamily="34" charset="-120"/>
              </a:rPr>
              <a:t>katmanı planlanıyor)</a:t>
            </a:r>
            <a:endParaRPr lang="en-US" sz="1200" dirty="0"/>
          </a:p>
        </p:txBody>
      </p:sp>
      <p:sp>
        <p:nvSpPr>
          <p:cNvPr id="15" name="Shape 13"/>
          <p:cNvSpPr/>
          <p:nvPr/>
        </p:nvSpPr>
        <p:spPr>
          <a:xfrm>
            <a:off x="8884768" y="3268980"/>
            <a:ext cx="-502920" cy="0"/>
          </a:xfrm>
          <a:prstGeom prst="line">
            <a:avLst/>
          </a:prstGeom>
          <a:noFill/>
          <a:ln w="19050">
            <a:solidFill>
              <a:srgbClr val="6B6B6B"/>
            </a:solidFill>
            <a:prstDash val="solid"/>
            <a:tailEnd type="triangle"/>
          </a:ln>
        </p:spPr>
      </p:sp>
      <p:sp>
        <p:nvSpPr>
          <p:cNvPr id="16" name="Shape 14"/>
          <p:cNvSpPr/>
          <p:nvPr/>
        </p:nvSpPr>
        <p:spPr>
          <a:xfrm>
            <a:off x="548640" y="5349240"/>
            <a:ext cx="11094415" cy="1005840"/>
          </a:xfrm>
          <a:prstGeom prst="roundRect">
            <a:avLst>
              <a:gd name="adj" fmla="val 4545"/>
            </a:avLst>
          </a:prstGeom>
          <a:solidFill>
            <a:srgbClr val="DEEBF7"/>
          </a:solidFill>
          <a:ln w="12700">
            <a:solidFill>
              <a:srgbClr val="2E74B5"/>
            </a:solidFill>
            <a:prstDash val="solid"/>
          </a:ln>
        </p:spPr>
      </p:sp>
      <p:sp>
        <p:nvSpPr>
          <p:cNvPr id="17" name="Text 15"/>
          <p:cNvSpPr/>
          <p:nvPr/>
        </p:nvSpPr>
        <p:spPr>
          <a:xfrm>
            <a:off x="749808" y="5422392"/>
            <a:ext cx="10692079" cy="859536"/>
          </a:xfrm>
          <a:prstGeom prst="rect">
            <a:avLst/>
          </a:prstGeom>
          <a:noFill/>
          <a:ln/>
        </p:spPr>
        <p:txBody>
          <a:bodyPr wrap="square" rtlCol="0" anchor="ctr"/>
          <a:lstStyle/>
          <a:p>
            <a:pPr indent="0" marL="0">
              <a:lnSpc>
                <a:spcPct val="112000"/>
              </a:lnSpc>
              <a:buNone/>
            </a:pPr>
            <a:r>
              <a:rPr lang="en-US" sz="1450" dirty="0">
                <a:solidFill>
                  <a:srgbClr val="262626"/>
                </a:solidFill>
                <a:latin typeface="Calibri" pitchFamily="34" charset="0"/>
                <a:ea typeface="Calibri" pitchFamily="34" charset="-122"/>
                <a:cs typeface="Calibri" pitchFamily="34" charset="-120"/>
              </a:rPr>
              <a:t>İzolasyon: nominal katmanın engelden haberi yok. Kaçınmanın tamamı filtreden gelir, böylece filtrenin katkısı ölçülebilir. Bu bilinçli bir tasarım tercihi — hazır bir yerel planlayıcının kendi kaçınması filtrenin katkısına karışırdı.</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58368"/>
          </a:xfrm>
          <a:prstGeom prst="rect">
            <a:avLst/>
          </a:prstGeom>
          <a:noFill/>
          <a:ln/>
        </p:spPr>
        <p:txBody>
          <a:bodyPr wrap="square" rtlCol="0" anchor="t"/>
          <a:lstStyle/>
          <a:p>
            <a:pPr algn="l" indent="0" marL="0">
              <a:buNone/>
            </a:pPr>
            <a:r>
              <a:rPr lang="en-US" sz="2600" b="1" dirty="0">
                <a:solidFill>
                  <a:srgbClr val="1F3864"/>
                </a:solidFill>
                <a:latin typeface="Calibri" pitchFamily="34" charset="0"/>
                <a:ea typeface="Calibri" pitchFamily="34" charset="-122"/>
                <a:cs typeface="Calibri" pitchFamily="34" charset="-120"/>
              </a:rPr>
              <a:t>Filtre Modları</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011680"/>
                <a:gridCol w="3840480"/>
                <a:gridCol w="5242255"/>
              </a:tblGrid>
              <a:tr h="566928">
                <a:tc>
                  <a:txBody>
                    <a:bodyPr/>
                    <a:lstStyle/>
                    <a:p>
                      <a:pPr indent="0" marL="0">
                        <a:buNone/>
                      </a:pPr>
                      <a:r>
                        <a:rPr lang="en-US" sz="1500" b="1" dirty="0">
                          <a:solidFill>
                            <a:srgbClr val="1F3864"/>
                          </a:solidFill>
                        </a:rPr>
                        <a:t>Mod</a:t>
                      </a:r>
                      <a:endParaRPr lang="en-US" sz="1500" dirty="0"/>
                    </a:p>
                  </a:txBody>
                  <a:tcPr marL="91440" marR="91440" marT="45720" marB="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EEBF7"/>
                    </a:solidFill>
                  </a:tcPr>
                </a:tc>
                <a:tc>
                  <a:txBody>
                    <a:bodyPr/>
                    <a:lstStyle/>
                    <a:p>
                      <a:pPr indent="0" marL="0">
                        <a:buNone/>
                      </a:pPr>
                      <a:r>
                        <a:rPr lang="en-US" sz="1500" b="1" dirty="0">
                          <a:solidFill>
                            <a:srgbClr val="1F3864"/>
                          </a:solidFill>
                        </a:rPr>
                        <a:t>Kısıtta engel hızı</a:t>
                      </a:r>
                      <a:endParaRPr lang="en-US" sz="1500" dirty="0"/>
                    </a:p>
                  </a:txBody>
                  <a:tcPr marL="91440" marR="91440" marT="45720" marB="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EEBF7"/>
                    </a:solidFill>
                  </a:tcPr>
                </a:tc>
                <a:tc>
                  <a:txBody>
                    <a:bodyPr/>
                    <a:lstStyle/>
                    <a:p>
                      <a:pPr indent="0" marL="0">
                        <a:buNone/>
                      </a:pPr>
                      <a:r>
                        <a:rPr lang="en-US" sz="1500" b="1" dirty="0">
                          <a:solidFill>
                            <a:srgbClr val="1F3864"/>
                          </a:solidFill>
                        </a:rPr>
                        <a:t>Not</a:t>
                      </a:r>
                      <a:endParaRPr lang="en-US" sz="1500" dirty="0"/>
                    </a:p>
                  </a:txBody>
                  <a:tcPr marL="91440" marR="91440" marT="45720" marB="4572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DEEBF7"/>
                    </a:solidFill>
                  </a:tcPr>
                </a:tc>
              </a:tr>
              <a:tr h="566928">
                <a:tc>
                  <a:txBody>
                    <a:bodyPr/>
                    <a:lstStyle/>
                    <a:p>
                      <a:pPr indent="0" marL="0">
                        <a:buNone/>
                      </a:pPr>
                      <a:r>
                        <a:rPr lang="en-US" sz="1450" dirty="0">
                          <a:solidFill>
                            <a:srgbClr val="262626"/>
                          </a:solidFill>
                          <a:latin typeface="Calibri" pitchFamily="34" charset="0"/>
                          <a:ea typeface="Calibri" pitchFamily="34" charset="-122"/>
                          <a:cs typeface="Calibri" pitchFamily="34" charset="-120"/>
                        </a:rPr>
                        <a:t>REACTIVE</a:t>
                      </a:r>
                      <a:endParaRPr lang="en-US" sz="145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50" dirty="0">
                          <a:solidFill>
                            <a:srgbClr val="262626"/>
                          </a:solidFill>
                          <a:latin typeface="Calibri" pitchFamily="34" charset="0"/>
                          <a:ea typeface="Calibri" pitchFamily="34" charset="-122"/>
                          <a:cs typeface="Calibri" pitchFamily="34" charset="-120"/>
                        </a:rPr>
                        <a:t>yok</a:t>
                      </a:r>
                      <a:endParaRPr lang="en-US" sz="145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50" dirty="0">
                          <a:solidFill>
                            <a:srgbClr val="262626"/>
                          </a:solidFill>
                          <a:latin typeface="Calibri" pitchFamily="34" charset="0"/>
                          <a:ea typeface="Calibri" pitchFamily="34" charset="-122"/>
                          <a:cs typeface="Calibri" pitchFamily="34" charset="-120"/>
                        </a:rPr>
                        <a:t>sabit engel varsayımı — model hatası</a:t>
                      </a:r>
                      <a:endParaRPr lang="en-US" sz="145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450" dirty="0">
                          <a:solidFill>
                            <a:srgbClr val="262626"/>
                          </a:solidFill>
                          <a:latin typeface="Calibri" pitchFamily="34" charset="0"/>
                          <a:ea typeface="Calibri" pitchFamily="34" charset="-122"/>
                          <a:cs typeface="Calibri" pitchFamily="34" charset="-120"/>
                        </a:rPr>
                        <a:t>SHIFT_NAIVE</a:t>
                      </a:r>
                      <a:endParaRPr lang="en-US" sz="145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50" dirty="0">
                          <a:solidFill>
                            <a:srgbClr val="262626"/>
                          </a:solidFill>
                          <a:latin typeface="Calibri" pitchFamily="34" charset="0"/>
                          <a:ea typeface="Calibri" pitchFamily="34" charset="-122"/>
                          <a:cs typeface="Calibri" pitchFamily="34" charset="-120"/>
                        </a:rPr>
                        <a:t>konum kaydırılır, türev düzeltilmez</a:t>
                      </a:r>
                      <a:endParaRPr lang="en-US" sz="145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50" dirty="0">
                          <a:solidFill>
                            <a:srgbClr val="262626"/>
                          </a:solidFill>
                          <a:latin typeface="Calibri" pitchFamily="34" charset="0"/>
                          <a:ea typeface="Calibri" pitchFamily="34" charset="-122"/>
                          <a:cs typeface="Calibri" pitchFamily="34" charset="-120"/>
                        </a:rPr>
                        <a:t>matematiksel olarak hatalı</a:t>
                      </a:r>
                      <a:endParaRPr lang="en-US" sz="145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450" dirty="0">
                          <a:solidFill>
                            <a:srgbClr val="262626"/>
                          </a:solidFill>
                          <a:latin typeface="Calibri" pitchFamily="34" charset="0"/>
                          <a:ea typeface="Calibri" pitchFamily="34" charset="-122"/>
                          <a:cs typeface="Calibri" pitchFamily="34" charset="-120"/>
                        </a:rPr>
                        <a:t>SHIFT_CORRECT</a:t>
                      </a:r>
                      <a:endParaRPr lang="en-US" sz="145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50" dirty="0">
                          <a:solidFill>
                            <a:srgbClr val="262626"/>
                          </a:solidFill>
                          <a:latin typeface="Calibri" pitchFamily="34" charset="0"/>
                          <a:ea typeface="Calibri" pitchFamily="34" charset="-122"/>
                          <a:cs typeface="Calibri" pitchFamily="34" charset="-120"/>
                        </a:rPr>
                        <a:t>ḣ = 2Δp_s·(v_r − v_o)</a:t>
                      </a:r>
                      <a:endParaRPr lang="en-US" sz="145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50" dirty="0">
                          <a:solidFill>
                            <a:srgbClr val="262626"/>
                          </a:solidFill>
                          <a:latin typeface="Calibri" pitchFamily="34" charset="0"/>
                          <a:ea typeface="Calibri" pitchFamily="34" charset="-122"/>
                          <a:cs typeface="Calibri" pitchFamily="34" charset="-120"/>
                        </a:rPr>
                        <a:t>doğru türev</a:t>
                      </a:r>
                      <a:endParaRPr lang="en-US" sz="145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450" dirty="0">
                          <a:solidFill>
                            <a:srgbClr val="262626"/>
                          </a:solidFill>
                          <a:latin typeface="Calibri" pitchFamily="34" charset="0"/>
                          <a:ea typeface="Calibri" pitchFamily="34" charset="-122"/>
                          <a:cs typeface="Calibri" pitchFamily="34" charset="-120"/>
                        </a:rPr>
                        <a:t>DCBF</a:t>
                      </a:r>
                      <a:endParaRPr lang="en-US" sz="145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50" dirty="0">
                          <a:solidFill>
                            <a:srgbClr val="262626"/>
                          </a:solidFill>
                          <a:latin typeface="Calibri" pitchFamily="34" charset="0"/>
                          <a:ea typeface="Calibri" pitchFamily="34" charset="-122"/>
                          <a:cs typeface="Calibri" pitchFamily="34" charset="-120"/>
                        </a:rPr>
                        <a:t>L_f h = −2(e·v_o)</a:t>
                      </a:r>
                      <a:endParaRPr lang="en-US" sz="145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450" dirty="0">
                          <a:solidFill>
                            <a:srgbClr val="262626"/>
                          </a:solidFill>
                          <a:latin typeface="Calibri" pitchFamily="34" charset="0"/>
                          <a:ea typeface="Calibri" pitchFamily="34" charset="-122"/>
                          <a:cs typeface="Calibri" pitchFamily="34" charset="-120"/>
                        </a:rPr>
                        <a:t>≡ SHIFT_CORRECT(T=0)</a:t>
                      </a:r>
                      <a:endParaRPr lang="en-US" sz="1450" dirty="0">
                        <a:latin typeface="Calibri" charset="0"/>
                        <a:ea typeface="Calibri" charset="0"/>
                        <a:cs typeface="Calibri" charset="0"/>
                      </a:endParaRPr>
                    </a:p>
                  </a:txBody>
                  <a:tcPr marL="76200" marR="762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4" name="Shape 1"/>
          <p:cNvSpPr/>
          <p:nvPr/>
        </p:nvSpPr>
        <p:spPr>
          <a:xfrm>
            <a:off x="548640" y="4023360"/>
            <a:ext cx="11094415" cy="594360"/>
          </a:xfrm>
          <a:prstGeom prst="roundRect">
            <a:avLst>
              <a:gd name="adj" fmla="val 7692"/>
            </a:avLst>
          </a:prstGeom>
          <a:solidFill>
            <a:srgbClr val="DEEBF7"/>
          </a:solidFill>
          <a:ln w="12700">
            <a:solidFill>
              <a:srgbClr val="2E74B5"/>
            </a:solidFill>
            <a:prstDash val="solid"/>
          </a:ln>
        </p:spPr>
      </p:sp>
      <p:sp>
        <p:nvSpPr>
          <p:cNvPr id="5" name="Text 2"/>
          <p:cNvSpPr/>
          <p:nvPr/>
        </p:nvSpPr>
        <p:spPr>
          <a:xfrm>
            <a:off x="749808" y="4096512"/>
            <a:ext cx="10692079" cy="448056"/>
          </a:xfrm>
          <a:prstGeom prst="rect">
            <a:avLst/>
          </a:prstGeom>
          <a:noFill/>
          <a:ln/>
        </p:spPr>
        <p:txBody>
          <a:bodyPr wrap="square" rtlCol="0" anchor="ctr"/>
          <a:lstStyle/>
          <a:p>
            <a:pPr indent="0" marL="0">
              <a:lnSpc>
                <a:spcPct val="112000"/>
              </a:lnSpc>
              <a:buNone/>
            </a:pPr>
            <a:r>
              <a:rPr lang="en-US" sz="1500" i="1" dirty="0">
                <a:solidFill>
                  <a:srgbClr val="262626"/>
                </a:solidFill>
                <a:latin typeface="Calibri" pitchFamily="34" charset="0"/>
                <a:ea typeface="Calibri" pitchFamily="34" charset="-122"/>
                <a:cs typeface="Calibri" pitchFamily="34" charset="-120"/>
              </a:rPr>
              <a:t>Son satırdaki eşdeğerlik ampirik olarak doğrulandı.</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58368"/>
          </a:xfrm>
          <a:prstGeom prst="rect">
            <a:avLst/>
          </a:prstGeom>
          <a:noFill/>
          <a:ln/>
        </p:spPr>
        <p:txBody>
          <a:bodyPr wrap="square" rtlCol="0" anchor="t"/>
          <a:lstStyle/>
          <a:p>
            <a:pPr algn="l" indent="0" marL="0">
              <a:buNone/>
            </a:pPr>
            <a:r>
              <a:rPr lang="en-US" sz="2600" b="1" dirty="0">
                <a:solidFill>
                  <a:srgbClr val="1F3864"/>
                </a:solidFill>
                <a:latin typeface="Calibri" pitchFamily="34" charset="0"/>
                <a:ea typeface="Calibri" pitchFamily="34" charset="-122"/>
                <a:cs typeface="Calibri" pitchFamily="34" charset="-120"/>
              </a:rPr>
              <a:t>Slack Gevşetmesi</a:t>
            </a:r>
            <a:endParaRPr lang="en-US" sz="2600" dirty="0"/>
          </a:p>
        </p:txBody>
      </p:sp>
      <p:sp>
        <p:nvSpPr>
          <p:cNvPr id="3" name="Shape 1"/>
          <p:cNvSpPr/>
          <p:nvPr/>
        </p:nvSpPr>
        <p:spPr>
          <a:xfrm>
            <a:off x="548640" y="1325880"/>
            <a:ext cx="11094415" cy="838962"/>
          </a:xfrm>
          <a:prstGeom prst="rect">
            <a:avLst/>
          </a:prstGeom>
          <a:solidFill>
            <a:srgbClr val="F2F2F2"/>
          </a:solidFill>
          <a:ln w="9525">
            <a:solidFill>
              <a:srgbClr val="D9D9D9"/>
            </a:solidFill>
            <a:prstDash val="solid"/>
          </a:ln>
        </p:spPr>
      </p:sp>
      <p:sp>
        <p:nvSpPr>
          <p:cNvPr id="4" name="Text 2"/>
          <p:cNvSpPr/>
          <p:nvPr/>
        </p:nvSpPr>
        <p:spPr>
          <a:xfrm>
            <a:off x="731520" y="1417320"/>
            <a:ext cx="10728655" cy="656082"/>
          </a:xfrm>
          <a:prstGeom prst="rect">
            <a:avLst/>
          </a:prstGeom>
          <a:noFill/>
          <a:ln/>
        </p:spPr>
        <p:txBody>
          <a:bodyPr wrap="square" rtlCol="0" anchor="t"/>
          <a:lstStyle/>
          <a:p>
            <a:pPr indent="0" marL="0">
              <a:lnSpc>
                <a:spcPct val="108000"/>
              </a:lnSpc>
              <a:buNone/>
            </a:pPr>
            <a:r>
              <a:rPr lang="en-US" sz="1700" dirty="0">
                <a:solidFill>
                  <a:srgbClr val="262626"/>
                </a:solidFill>
                <a:latin typeface="Consolas" pitchFamily="34" charset="0"/>
                <a:ea typeface="Consolas" pitchFamily="34" charset="-122"/>
                <a:cs typeface="Consolas" pitchFamily="34" charset="-120"/>
              </a:rPr>
              <a:t>min  ‖u − u_nom‖²_W + ρ·δ²</a:t>
            </a:r>
            <a:endParaRPr lang="en-US" sz="1700" dirty="0"/>
          </a:p>
          <a:p>
            <a:pPr indent="0" marL="0">
              <a:lnSpc>
                <a:spcPct val="108000"/>
              </a:lnSpc>
              <a:buNone/>
            </a:pPr>
            <a:r>
              <a:rPr lang="en-US" sz="1700" dirty="0">
                <a:solidFill>
                  <a:srgbClr val="262626"/>
                </a:solidFill>
                <a:latin typeface="Consolas" pitchFamily="34" charset="0"/>
                <a:ea typeface="Consolas" pitchFamily="34" charset="-122"/>
                <a:cs typeface="Consolas" pitchFamily="34" charset="-120"/>
              </a:rPr>
              <a:t>s.t. ḣ ≥ −α·h − δ,   δ ≥ 0</a:t>
            </a:r>
            <a:endParaRPr lang="en-US" sz="1700" dirty="0"/>
          </a:p>
        </p:txBody>
      </p:sp>
      <p:sp>
        <p:nvSpPr>
          <p:cNvPr id="5" name="Text 3"/>
          <p:cNvSpPr/>
          <p:nvPr/>
        </p:nvSpPr>
        <p:spPr>
          <a:xfrm>
            <a:off x="548640" y="2651760"/>
            <a:ext cx="11094415" cy="1828800"/>
          </a:xfrm>
          <a:prstGeom prst="rect">
            <a:avLst/>
          </a:prstGeom>
          <a:noFill/>
          <a:ln/>
        </p:spPr>
        <p:txBody>
          <a:bodyPr wrap="square" rtlCol="0" anchor="t"/>
          <a:lstStyle/>
          <a:p>
            <a:pPr marL="203200" indent="-203200">
              <a:lnSpc>
                <a:spcPct val="118000"/>
              </a:lnSpc>
              <a:spcAft>
                <a:spcPts val="1200"/>
              </a:spcAft>
              <a:buSzPct val="100000"/>
              <a:buChar char="–"/>
            </a:pPr>
            <a:r>
              <a:rPr lang="en-US" sz="1550" dirty="0">
                <a:solidFill>
                  <a:srgbClr val="262626"/>
                </a:solidFill>
                <a:latin typeface="Calibri" pitchFamily="34" charset="0"/>
                <a:ea typeface="Calibri" pitchFamily="34" charset="-122"/>
                <a:cs typeface="Calibri" pitchFamily="34" charset="-120"/>
              </a:rPr>
              <a:t>Karar değişkeni [v, ω, δ]. Neden: hard modda kısıt sağlanamadığında davranış tanımsızdı.</a:t>
            </a:r>
            <a:endParaRPr lang="en-US" sz="1550" dirty="0"/>
          </a:p>
          <a:p>
            <a:pPr marL="203200" indent="-203200">
              <a:lnSpc>
                <a:spcPct val="118000"/>
              </a:lnSpc>
              <a:spcAft>
                <a:spcPts val="1200"/>
              </a:spcAft>
              <a:buSzPct val="100000"/>
              <a:buChar char="–"/>
            </a:pPr>
            <a:r>
              <a:rPr lang="en-US" sz="1550" dirty="0">
                <a:solidFill>
                  <a:srgbClr val="262626"/>
                </a:solidFill>
                <a:latin typeface="Calibri" pitchFamily="34" charset="0"/>
                <a:ea typeface="Calibri" pitchFamily="34" charset="-122"/>
                <a:cs typeface="Calibri" pitchFamily="34" charset="-120"/>
              </a:rPr>
              <a:t>δ, feasibility ölçümünü ikiliden sürekliye çeviriyor — "infeasible mi" yerine "sınırın ne kadar dışındayız".</a:t>
            </a:r>
            <a:endParaRPr lang="en-US" sz="1550" dirty="0"/>
          </a:p>
          <a:p>
            <a:pPr marL="203200" indent="-203200">
              <a:lnSpc>
                <a:spcPct val="118000"/>
              </a:lnSpc>
              <a:spcAft>
                <a:spcPts val="1200"/>
              </a:spcAft>
              <a:buSzPct val="100000"/>
              <a:buChar char="–"/>
            </a:pPr>
            <a:r>
              <a:rPr lang="en-US" sz="1550" dirty="0">
                <a:solidFill>
                  <a:srgbClr val="262626"/>
                </a:solidFill>
                <a:latin typeface="Calibri" pitchFamily="34" charset="0"/>
                <a:ea typeface="Calibri" pitchFamily="34" charset="-122"/>
                <a:cs typeface="Calibri" pitchFamily="34" charset="-120"/>
              </a:rPr>
              <a:t>Ölçek bağımsızlığı için δ_rel = δ / max(|α·h|, ε), aktiflik eşiği %1.</a:t>
            </a:r>
            <a:endParaRPr lang="en-US" sz="1550" dirty="0"/>
          </a:p>
        </p:txBody>
      </p:sp>
      <p:sp>
        <p:nvSpPr>
          <p:cNvPr id="6" name="Shape 4"/>
          <p:cNvSpPr/>
          <p:nvPr/>
        </p:nvSpPr>
        <p:spPr>
          <a:xfrm>
            <a:off x="548640" y="4892040"/>
            <a:ext cx="11094415" cy="1097280"/>
          </a:xfrm>
          <a:prstGeom prst="roundRect">
            <a:avLst>
              <a:gd name="adj" fmla="val 4167"/>
            </a:avLst>
          </a:prstGeom>
          <a:solidFill>
            <a:srgbClr val="FFF2CC"/>
          </a:solidFill>
          <a:ln w="12700">
            <a:solidFill>
              <a:srgbClr val="BF8F00"/>
            </a:solidFill>
            <a:prstDash val="solid"/>
          </a:ln>
        </p:spPr>
      </p:sp>
      <p:sp>
        <p:nvSpPr>
          <p:cNvPr id="7" name="Text 5"/>
          <p:cNvSpPr/>
          <p:nvPr/>
        </p:nvSpPr>
        <p:spPr>
          <a:xfrm>
            <a:off x="749808" y="4965192"/>
            <a:ext cx="10692079" cy="950976"/>
          </a:xfrm>
          <a:prstGeom prst="rect">
            <a:avLst/>
          </a:prstGeom>
          <a:noFill/>
          <a:ln/>
        </p:spPr>
        <p:txBody>
          <a:bodyPr wrap="square" rtlCol="0" anchor="ctr"/>
          <a:lstStyle/>
          <a:p>
            <a:pPr indent="0" marL="0">
              <a:lnSpc>
                <a:spcPct val="112000"/>
              </a:lnSpc>
              <a:buNone/>
            </a:pPr>
            <a:r>
              <a:rPr lang="en-US" sz="1500" dirty="0">
                <a:solidFill>
                  <a:srgbClr val="262626"/>
                </a:solidFill>
                <a:latin typeface="Calibri" pitchFamily="34" charset="0"/>
                <a:ea typeface="Calibri" pitchFamily="34" charset="-122"/>
                <a:cs typeface="Calibri" pitchFamily="34" charset="-120"/>
              </a:rPr>
              <a:t>Ayrıca: QP maliyeti normalize edilmeli. v ve ω aralıkları arasında ~26× ölçek farkı var; normalize edilmezse filtre için tamamen durmak, küçük bir dönüşten ucuz hale geliyor.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58368"/>
          </a:xfrm>
          <a:prstGeom prst="rect">
            <a:avLst/>
          </a:prstGeom>
          <a:noFill/>
          <a:ln/>
        </p:spPr>
        <p:txBody>
          <a:bodyPr wrap="square" rtlCol="0" anchor="t"/>
          <a:lstStyle/>
          <a:p>
            <a:pPr algn="l" indent="0" marL="0">
              <a:buNone/>
            </a:pPr>
            <a:r>
              <a:rPr lang="en-US" sz="2600" b="1" dirty="0">
                <a:solidFill>
                  <a:srgbClr val="1F3864"/>
                </a:solidFill>
                <a:latin typeface="Calibri" pitchFamily="34" charset="0"/>
                <a:ea typeface="Calibri" pitchFamily="34" charset="-122"/>
                <a:cs typeface="Calibri" pitchFamily="34" charset="-120"/>
              </a:rPr>
              <a:t>Deneyler: Ne Yaptık</a:t>
            </a:r>
            <a:endParaRPr lang="en-US" sz="2600" dirty="0"/>
          </a:p>
        </p:txBody>
      </p:sp>
      <p:sp>
        <p:nvSpPr>
          <p:cNvPr id="3" name="Text 1"/>
          <p:cNvSpPr/>
          <p:nvPr/>
        </p:nvSpPr>
        <p:spPr>
          <a:xfrm>
            <a:off x="548640" y="1280160"/>
            <a:ext cx="11094415" cy="2011680"/>
          </a:xfrm>
          <a:prstGeom prst="rect">
            <a:avLst/>
          </a:prstGeom>
          <a:noFill/>
          <a:ln/>
        </p:spPr>
        <p:txBody>
          <a:bodyPr wrap="square" rtlCol="0" anchor="t"/>
          <a:lstStyle/>
          <a:p>
            <a:pPr marL="203200" indent="-203200">
              <a:lnSpc>
                <a:spcPct val="118000"/>
              </a:lnSpc>
              <a:spcAft>
                <a:spcPts val="1000"/>
              </a:spcAft>
              <a:buSzPct val="100000"/>
              <a:buChar char="–"/>
            </a:pPr>
            <a:r>
              <a:rPr lang="en-US" sz="1600" dirty="0">
                <a:solidFill>
                  <a:srgbClr val="262626"/>
                </a:solidFill>
                <a:latin typeface="Calibri" pitchFamily="34" charset="0"/>
                <a:ea typeface="Calibri" pitchFamily="34" charset="-122"/>
                <a:cs typeface="Calibri" pitchFamily="34" charset="-120"/>
              </a:rPr>
              <a:t>Otomatik kampanya altyapısı: deterministik senaryo başlatma, otomatik kayıt, metrik çıkarımı, parametre taraması, kesintiye dayanıklı çalışma.</a:t>
            </a:r>
            <a:endParaRPr lang="en-US" sz="1600" dirty="0"/>
          </a:p>
          <a:p>
            <a:pPr marL="203200" indent="-203200">
              <a:lnSpc>
                <a:spcPct val="118000"/>
              </a:lnSpc>
              <a:spcAft>
                <a:spcPts val="1000"/>
              </a:spcAft>
              <a:buSzPct val="100000"/>
              <a:buChar char="–"/>
            </a:pPr>
            <a:r>
              <a:rPr lang="en-US" sz="1600" dirty="0">
                <a:solidFill>
                  <a:srgbClr val="262626"/>
                </a:solidFill>
                <a:latin typeface="Calibri" pitchFamily="34" charset="0"/>
                <a:ea typeface="Calibri" pitchFamily="34" charset="-122"/>
                <a:cs typeface="Calibri" pitchFamily="34" charset="-120"/>
              </a:rPr>
              <a:t>Ölçek: ~2.500 simülasyon koşusu.</a:t>
            </a:r>
            <a:endParaRPr lang="en-US" sz="1600" dirty="0"/>
          </a:p>
          <a:p>
            <a:pPr marL="203200" indent="-203200">
              <a:lnSpc>
                <a:spcPct val="118000"/>
              </a:lnSpc>
              <a:spcAft>
                <a:spcPts val="1000"/>
              </a:spcAft>
              <a:buSzPct val="100000"/>
              <a:buChar char="–"/>
            </a:pPr>
            <a:r>
              <a:rPr lang="en-US" sz="1600" dirty="0">
                <a:solidFill>
                  <a:srgbClr val="262626"/>
                </a:solidFill>
                <a:latin typeface="Calibri" pitchFamily="34" charset="0"/>
                <a:ea typeface="Calibri" pitchFamily="34" charset="-122"/>
                <a:cs typeface="Calibri" pitchFamily="34" charset="-120"/>
              </a:rPr>
              <a:t>Taranan eksenler: engel hızı, yanal ofset, filtre modu, öngörü ufku T, sınıf-K katsayısı α, lookahead kolu L, maliyet ağırlığı w.</a:t>
            </a:r>
            <a:endParaRPr lang="en-US" sz="1600" dirty="0"/>
          </a:p>
        </p:txBody>
      </p:sp>
      <p:sp>
        <p:nvSpPr>
          <p:cNvPr id="4" name="Shape 2"/>
          <p:cNvSpPr/>
          <p:nvPr/>
        </p:nvSpPr>
        <p:spPr>
          <a:xfrm>
            <a:off x="548640" y="3429000"/>
            <a:ext cx="11094415" cy="960120"/>
          </a:xfrm>
          <a:prstGeom prst="roundRect">
            <a:avLst>
              <a:gd name="adj" fmla="val 4762"/>
            </a:avLst>
          </a:prstGeom>
          <a:solidFill>
            <a:srgbClr val="DEEBF7"/>
          </a:solidFill>
          <a:ln w="12700">
            <a:solidFill>
              <a:srgbClr val="2E74B5"/>
            </a:solidFill>
            <a:prstDash val="solid"/>
          </a:ln>
        </p:spPr>
      </p:sp>
      <p:sp>
        <p:nvSpPr>
          <p:cNvPr id="5" name="Text 3"/>
          <p:cNvSpPr/>
          <p:nvPr/>
        </p:nvSpPr>
        <p:spPr>
          <a:xfrm>
            <a:off x="749808" y="3502152"/>
            <a:ext cx="10692079" cy="813816"/>
          </a:xfrm>
          <a:prstGeom prst="rect">
            <a:avLst/>
          </a:prstGeom>
          <a:noFill/>
          <a:ln/>
        </p:spPr>
        <p:txBody>
          <a:bodyPr wrap="square" rtlCol="0" anchor="ctr"/>
          <a:lstStyle/>
          <a:p>
            <a:pPr indent="0" marL="0">
              <a:lnSpc>
                <a:spcPct val="112000"/>
              </a:lnSpc>
              <a:buNone/>
            </a:pPr>
            <a:r>
              <a:rPr lang="en-US" sz="1500" dirty="0">
                <a:solidFill>
                  <a:srgbClr val="262626"/>
                </a:solidFill>
                <a:latin typeface="Calibri" pitchFamily="34" charset="0"/>
                <a:ea typeface="Calibri" pitchFamily="34" charset="-122"/>
                <a:cs typeface="Calibri" pitchFamily="34" charset="-120"/>
              </a:rPr>
              <a:t>Yöntem notu: dört parametre ekseninin tam kartezyen çarpımı ~172.000 koşu ederdi. Aranan şey bir yüzey değil bir eğri olduğu için, ikili aramayla sınır doğrudan izlendi — yaklaşık 1/100 maliyet.</a:t>
            </a:r>
            <a:endParaRPr lang="en-US" sz="1500" dirty="0"/>
          </a:p>
        </p:txBody>
      </p:sp>
      <p:sp>
        <p:nvSpPr>
          <p:cNvPr id="6" name="Shape 4"/>
          <p:cNvSpPr/>
          <p:nvPr/>
        </p:nvSpPr>
        <p:spPr>
          <a:xfrm>
            <a:off x="548640" y="4617720"/>
            <a:ext cx="11094415" cy="1027557"/>
          </a:xfrm>
          <a:prstGeom prst="rect">
            <a:avLst/>
          </a:prstGeom>
          <a:solidFill>
            <a:srgbClr val="F2F2F2"/>
          </a:solidFill>
          <a:ln w="9525">
            <a:solidFill>
              <a:srgbClr val="D9D9D9"/>
            </a:solidFill>
            <a:prstDash val="solid"/>
          </a:ln>
        </p:spPr>
      </p:sp>
      <p:sp>
        <p:nvSpPr>
          <p:cNvPr id="7" name="Text 5"/>
          <p:cNvSpPr/>
          <p:nvPr/>
        </p:nvSpPr>
        <p:spPr>
          <a:xfrm>
            <a:off x="731520" y="4709160"/>
            <a:ext cx="10728655" cy="844677"/>
          </a:xfrm>
          <a:prstGeom prst="rect">
            <a:avLst/>
          </a:prstGeom>
          <a:noFill/>
          <a:ln/>
        </p:spPr>
        <p:txBody>
          <a:bodyPr wrap="square" rtlCol="0" anchor="t"/>
          <a:lstStyle/>
          <a:p>
            <a:pPr indent="0" marL="0">
              <a:lnSpc>
                <a:spcPct val="108000"/>
              </a:lnSpc>
              <a:buNone/>
            </a:pPr>
            <a:r>
              <a:rPr lang="en-US" sz="1500" dirty="0">
                <a:solidFill>
                  <a:srgbClr val="262626"/>
                </a:solidFill>
                <a:latin typeface="Consolas" pitchFamily="34" charset="0"/>
                <a:ea typeface="Consolas" pitchFamily="34" charset="-122"/>
                <a:cs typeface="Consolas" pitchFamily="34" charset="-120"/>
              </a:rPr>
              <a:t>çarpışma      fiziksel temas</a:t>
            </a:r>
            <a:endParaRPr lang="en-US" sz="1500" dirty="0"/>
          </a:p>
          <a:p>
            <a:pPr indent="0" marL="0">
              <a:lnSpc>
                <a:spcPct val="108000"/>
              </a:lnSpc>
              <a:buNone/>
            </a:pPr>
            <a:r>
              <a:rPr lang="en-US" sz="1500" dirty="0">
                <a:solidFill>
                  <a:srgbClr val="262626"/>
                </a:solidFill>
                <a:latin typeface="Consolas" pitchFamily="34" charset="0"/>
                <a:ea typeface="Consolas" pitchFamily="34" charset="-122"/>
                <a:cs typeface="Consolas" pitchFamily="34" charset="-120"/>
              </a:rPr>
              <a:t>gövde marjı   gövde merkezine göre d_safe ihlali</a:t>
            </a:r>
            <a:endParaRPr lang="en-US" sz="1500" dirty="0"/>
          </a:p>
          <a:p>
            <a:pPr indent="0" marL="0">
              <a:lnSpc>
                <a:spcPct val="108000"/>
              </a:lnSpc>
              <a:buNone/>
            </a:pPr>
            <a:r>
              <a:rPr lang="en-US" sz="1500" dirty="0">
                <a:solidFill>
                  <a:srgbClr val="262626"/>
                </a:solidFill>
                <a:latin typeface="Consolas" pitchFamily="34" charset="0"/>
                <a:ea typeface="Consolas" pitchFamily="34" charset="-122"/>
                <a:cs typeface="Consolas" pitchFamily="34" charset="-120"/>
              </a:rPr>
              <a:t>feasibility   δ_rel &gt; %1, aktüatör limiti bağlayıcı</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58368"/>
          </a:xfrm>
          <a:prstGeom prst="rect">
            <a:avLst/>
          </a:prstGeom>
          <a:noFill/>
          <a:ln/>
        </p:spPr>
        <p:txBody>
          <a:bodyPr wrap="square" rtlCol="0" anchor="t"/>
          <a:lstStyle/>
          <a:p>
            <a:pPr algn="l" indent="0" marL="0">
              <a:buNone/>
            </a:pPr>
            <a:r>
              <a:rPr lang="en-US" sz="2600" b="1" dirty="0">
                <a:solidFill>
                  <a:srgbClr val="1F3864"/>
                </a:solidFill>
                <a:latin typeface="Calibri" pitchFamily="34" charset="0"/>
                <a:ea typeface="Calibri" pitchFamily="34" charset="-122"/>
                <a:cs typeface="Calibri" pitchFamily="34" charset="-120"/>
              </a:rPr>
              <a:t>Deneyler: Ne Bulduk — Bulgular</a:t>
            </a:r>
            <a:endParaRPr lang="en-US" sz="2600" dirty="0"/>
          </a:p>
        </p:txBody>
      </p:sp>
      <p:sp>
        <p:nvSpPr>
          <p:cNvPr id="3" name="Shape 1"/>
          <p:cNvSpPr/>
          <p:nvPr/>
        </p:nvSpPr>
        <p:spPr>
          <a:xfrm>
            <a:off x="548640" y="1261872"/>
            <a:ext cx="384048" cy="384048"/>
          </a:xfrm>
          <a:prstGeom prst="ellipse">
            <a:avLst/>
          </a:prstGeom>
          <a:solidFill>
            <a:srgbClr val="DEEBF7"/>
          </a:solidFill>
          <a:ln w="12700">
            <a:solidFill>
              <a:srgbClr val="2E74B5"/>
            </a:solidFill>
            <a:prstDash val="solid"/>
          </a:ln>
        </p:spPr>
      </p:sp>
      <p:sp>
        <p:nvSpPr>
          <p:cNvPr id="4" name="Text 2"/>
          <p:cNvSpPr/>
          <p:nvPr/>
        </p:nvSpPr>
        <p:spPr>
          <a:xfrm>
            <a:off x="548640" y="1261872"/>
            <a:ext cx="384048" cy="384048"/>
          </a:xfrm>
          <a:prstGeom prst="rect">
            <a:avLst/>
          </a:prstGeom>
          <a:noFill/>
          <a:ln/>
        </p:spPr>
        <p:txBody>
          <a:bodyPr wrap="square" rtlCol="0" anchor="ctr"/>
          <a:lstStyle/>
          <a:p>
            <a:pPr algn="ctr" indent="0" marL="0">
              <a:buNone/>
            </a:pPr>
            <a:r>
              <a:rPr lang="en-US" sz="1500" b="1" dirty="0">
                <a:solidFill>
                  <a:srgbClr val="2E74B5"/>
                </a:solidFill>
                <a:latin typeface="Calibri" pitchFamily="34" charset="0"/>
                <a:ea typeface="Calibri" pitchFamily="34" charset="-122"/>
                <a:cs typeface="Calibri" pitchFamily="34" charset="-120"/>
              </a:rPr>
              <a:t>1</a:t>
            </a:r>
            <a:endParaRPr lang="en-US" sz="1500" dirty="0"/>
          </a:p>
        </p:txBody>
      </p:sp>
      <p:sp>
        <p:nvSpPr>
          <p:cNvPr id="5" name="Text 3"/>
          <p:cNvSpPr/>
          <p:nvPr/>
        </p:nvSpPr>
        <p:spPr>
          <a:xfrm>
            <a:off x="1115568" y="1234440"/>
            <a:ext cx="10527487" cy="932688"/>
          </a:xfrm>
          <a:prstGeom prst="rect">
            <a:avLst/>
          </a:prstGeom>
          <a:noFill/>
          <a:ln/>
        </p:spPr>
        <p:txBody>
          <a:bodyPr wrap="square" rtlCol="0" anchor="t"/>
          <a:lstStyle/>
          <a:p>
            <a:pPr indent="0" marL="0">
              <a:lnSpc>
                <a:spcPct val="115000"/>
              </a:lnSpc>
              <a:buNone/>
            </a:pPr>
            <a:r>
              <a:rPr lang="en-US" sz="1400" b="1" dirty="0">
                <a:solidFill>
                  <a:srgbClr val="1F3864"/>
                </a:solidFill>
                <a:latin typeface="Calibri" pitchFamily="34" charset="0"/>
                <a:ea typeface="Calibri" pitchFamily="34" charset="-122"/>
                <a:cs typeface="Calibri" pitchFamily="34" charset="-120"/>
              </a:rPr>
              <a:t>İki ayrı güvenlik sınırı.  </a:t>
            </a:r>
            <a:pPr indent="0" marL="0">
              <a:lnSpc>
                <a:spcPct val="115000"/>
              </a:lnSpc>
              <a:buNone/>
            </a:pPr>
            <a:r>
              <a:rPr lang="en-US" sz="1400" dirty="0">
                <a:solidFill>
                  <a:srgbClr val="262626"/>
                </a:solidFill>
                <a:latin typeface="Calibri" pitchFamily="34" charset="0"/>
                <a:ea typeface="Calibri" pitchFamily="34" charset="-122"/>
                <a:cs typeface="Calibri" pitchFamily="34" charset="-120"/>
              </a:rPr>
              <a:t>Ayrışma bandının çekirdeğinde filtre çarpışmayı önlüyor ama tasarım marjı ihlal ediliyor — girdi doygunluğunun sonucu. CBF garantisi girdi kısıtı altında pratikte bozulabiliyor.</a:t>
            </a:r>
            <a:endParaRPr lang="en-US" sz="1400" dirty="0"/>
          </a:p>
        </p:txBody>
      </p:sp>
      <p:sp>
        <p:nvSpPr>
          <p:cNvPr id="6" name="Shape 4"/>
          <p:cNvSpPr/>
          <p:nvPr/>
        </p:nvSpPr>
        <p:spPr>
          <a:xfrm>
            <a:off x="548640" y="2194560"/>
            <a:ext cx="384048" cy="384048"/>
          </a:xfrm>
          <a:prstGeom prst="ellipse">
            <a:avLst/>
          </a:prstGeom>
          <a:solidFill>
            <a:srgbClr val="DEEBF7"/>
          </a:solidFill>
          <a:ln w="12700">
            <a:solidFill>
              <a:srgbClr val="2E74B5"/>
            </a:solidFill>
            <a:prstDash val="solid"/>
          </a:ln>
        </p:spPr>
      </p:sp>
      <p:sp>
        <p:nvSpPr>
          <p:cNvPr id="7" name="Text 5"/>
          <p:cNvSpPr/>
          <p:nvPr/>
        </p:nvSpPr>
        <p:spPr>
          <a:xfrm>
            <a:off x="548640" y="2194560"/>
            <a:ext cx="384048" cy="384048"/>
          </a:xfrm>
          <a:prstGeom prst="rect">
            <a:avLst/>
          </a:prstGeom>
          <a:noFill/>
          <a:ln/>
        </p:spPr>
        <p:txBody>
          <a:bodyPr wrap="square" rtlCol="0" anchor="ctr"/>
          <a:lstStyle/>
          <a:p>
            <a:pPr algn="ctr" indent="0" marL="0">
              <a:buNone/>
            </a:pPr>
            <a:r>
              <a:rPr lang="en-US" sz="1500" b="1" dirty="0">
                <a:solidFill>
                  <a:srgbClr val="2E74B5"/>
                </a:solidFill>
                <a:latin typeface="Calibri" pitchFamily="34" charset="0"/>
                <a:ea typeface="Calibri" pitchFamily="34" charset="-122"/>
                <a:cs typeface="Calibri" pitchFamily="34" charset="-120"/>
              </a:rPr>
              <a:t>2</a:t>
            </a:r>
            <a:endParaRPr lang="en-US" sz="1500" dirty="0"/>
          </a:p>
        </p:txBody>
      </p:sp>
      <p:sp>
        <p:nvSpPr>
          <p:cNvPr id="8" name="Text 6"/>
          <p:cNvSpPr/>
          <p:nvPr/>
        </p:nvSpPr>
        <p:spPr>
          <a:xfrm>
            <a:off x="1115568" y="2167128"/>
            <a:ext cx="10527487" cy="932688"/>
          </a:xfrm>
          <a:prstGeom prst="rect">
            <a:avLst/>
          </a:prstGeom>
          <a:noFill/>
          <a:ln/>
        </p:spPr>
        <p:txBody>
          <a:bodyPr wrap="square" rtlCol="0" anchor="t"/>
          <a:lstStyle/>
          <a:p>
            <a:pPr indent="0" marL="0">
              <a:lnSpc>
                <a:spcPct val="115000"/>
              </a:lnSpc>
              <a:buNone/>
            </a:pPr>
            <a:r>
              <a:rPr lang="en-US" sz="1400" b="1" dirty="0">
                <a:solidFill>
                  <a:srgbClr val="1F3864"/>
                </a:solidFill>
                <a:latin typeface="Calibri" pitchFamily="34" charset="0"/>
                <a:ea typeface="Calibri" pitchFamily="34" charset="-122"/>
                <a:cs typeface="Calibri" pitchFamily="34" charset="-120"/>
              </a:rPr>
              <a:t>Aktüasyon sınırı, güvenlik sınırının yarısında.  </a:t>
            </a:r>
            <a:pPr indent="0" marL="0">
              <a:lnSpc>
                <a:spcPct val="115000"/>
              </a:lnSpc>
              <a:buNone/>
            </a:pPr>
            <a:r>
              <a:rPr lang="en-US" sz="1400" dirty="0">
                <a:solidFill>
                  <a:srgbClr val="262626"/>
                </a:solidFill>
                <a:latin typeface="Calibri" pitchFamily="34" charset="0"/>
                <a:ea typeface="Calibri" pitchFamily="34" charset="-122"/>
                <a:cs typeface="Calibri" pitchFamily="34" charset="-120"/>
              </a:rPr>
              <a:t>feasibility ≈ 0.75 m/s, çarpışma ≈ 1.31 m/s. Arada geniş bir "doygun ama hâlâ başarılı" rejim var.</a:t>
            </a:r>
            <a:endParaRPr lang="en-US" sz="1400" dirty="0"/>
          </a:p>
        </p:txBody>
      </p:sp>
      <p:sp>
        <p:nvSpPr>
          <p:cNvPr id="9" name="Shape 7"/>
          <p:cNvSpPr/>
          <p:nvPr/>
        </p:nvSpPr>
        <p:spPr>
          <a:xfrm>
            <a:off x="548640" y="3127248"/>
            <a:ext cx="384048" cy="384048"/>
          </a:xfrm>
          <a:prstGeom prst="ellipse">
            <a:avLst/>
          </a:prstGeom>
          <a:solidFill>
            <a:srgbClr val="DEEBF7"/>
          </a:solidFill>
          <a:ln w="12700">
            <a:solidFill>
              <a:srgbClr val="2E74B5"/>
            </a:solidFill>
            <a:prstDash val="solid"/>
          </a:ln>
        </p:spPr>
      </p:sp>
      <p:sp>
        <p:nvSpPr>
          <p:cNvPr id="10" name="Text 8"/>
          <p:cNvSpPr/>
          <p:nvPr/>
        </p:nvSpPr>
        <p:spPr>
          <a:xfrm>
            <a:off x="548640" y="3127248"/>
            <a:ext cx="384048" cy="384048"/>
          </a:xfrm>
          <a:prstGeom prst="rect">
            <a:avLst/>
          </a:prstGeom>
          <a:noFill/>
          <a:ln/>
        </p:spPr>
        <p:txBody>
          <a:bodyPr wrap="square" rtlCol="0" anchor="ctr"/>
          <a:lstStyle/>
          <a:p>
            <a:pPr algn="ctr" indent="0" marL="0">
              <a:buNone/>
            </a:pPr>
            <a:r>
              <a:rPr lang="en-US" sz="1500" b="1" dirty="0">
                <a:solidFill>
                  <a:srgbClr val="2E74B5"/>
                </a:solidFill>
                <a:latin typeface="Calibri" pitchFamily="34" charset="0"/>
                <a:ea typeface="Calibri" pitchFamily="34" charset="-122"/>
                <a:cs typeface="Calibri" pitchFamily="34" charset="-120"/>
              </a:rPr>
              <a:t>3</a:t>
            </a:r>
            <a:endParaRPr lang="en-US" sz="1500" dirty="0"/>
          </a:p>
        </p:txBody>
      </p:sp>
      <p:sp>
        <p:nvSpPr>
          <p:cNvPr id="11" name="Text 9"/>
          <p:cNvSpPr/>
          <p:nvPr/>
        </p:nvSpPr>
        <p:spPr>
          <a:xfrm>
            <a:off x="1115568" y="3099816"/>
            <a:ext cx="10527487" cy="932688"/>
          </a:xfrm>
          <a:prstGeom prst="rect">
            <a:avLst/>
          </a:prstGeom>
          <a:noFill/>
          <a:ln/>
        </p:spPr>
        <p:txBody>
          <a:bodyPr wrap="square" rtlCol="0" anchor="t"/>
          <a:lstStyle/>
          <a:p>
            <a:pPr indent="0" marL="0">
              <a:lnSpc>
                <a:spcPct val="115000"/>
              </a:lnSpc>
              <a:buNone/>
            </a:pPr>
            <a:r>
              <a:rPr lang="en-US" sz="1400" b="1" dirty="0">
                <a:solidFill>
                  <a:srgbClr val="1F3864"/>
                </a:solidFill>
                <a:latin typeface="Calibri" pitchFamily="34" charset="0"/>
                <a:ea typeface="Calibri" pitchFamily="34" charset="-122"/>
                <a:cs typeface="Calibri" pitchFamily="34" charset="-120"/>
              </a:rPr>
              <a:t>α'nın optimal değeri var.  </a:t>
            </a:r>
            <a:pPr indent="0" marL="0">
              <a:lnSpc>
                <a:spcPct val="115000"/>
              </a:lnSpc>
              <a:buNone/>
            </a:pPr>
            <a:r>
              <a:rPr lang="en-US" sz="1400" dirty="0">
                <a:solidFill>
                  <a:srgbClr val="262626"/>
                </a:solidFill>
                <a:latin typeface="Calibri" pitchFamily="34" charset="0"/>
                <a:ea typeface="Calibri" pitchFamily="34" charset="-122"/>
                <a:cs typeface="Calibri" pitchFamily="34" charset="-120"/>
              </a:rPr>
              <a:t>v_crit iç bükey, tepe α=1.0'da. Çok küçük α erken/yumuşak müdahale, otorite kalmıyor; çok büyük α geç/sert, aktüatör yetişmiyor.</a:t>
            </a:r>
            <a:endParaRPr lang="en-US" sz="1400" dirty="0"/>
          </a:p>
        </p:txBody>
      </p:sp>
      <p:sp>
        <p:nvSpPr>
          <p:cNvPr id="12" name="Shape 10"/>
          <p:cNvSpPr/>
          <p:nvPr/>
        </p:nvSpPr>
        <p:spPr>
          <a:xfrm>
            <a:off x="548640" y="4059936"/>
            <a:ext cx="384048" cy="384048"/>
          </a:xfrm>
          <a:prstGeom prst="ellipse">
            <a:avLst/>
          </a:prstGeom>
          <a:solidFill>
            <a:srgbClr val="DEEBF7"/>
          </a:solidFill>
          <a:ln w="12700">
            <a:solidFill>
              <a:srgbClr val="2E74B5"/>
            </a:solidFill>
            <a:prstDash val="solid"/>
          </a:ln>
        </p:spPr>
      </p:sp>
      <p:sp>
        <p:nvSpPr>
          <p:cNvPr id="13" name="Text 11"/>
          <p:cNvSpPr/>
          <p:nvPr/>
        </p:nvSpPr>
        <p:spPr>
          <a:xfrm>
            <a:off x="548640" y="4059936"/>
            <a:ext cx="384048" cy="384048"/>
          </a:xfrm>
          <a:prstGeom prst="rect">
            <a:avLst/>
          </a:prstGeom>
          <a:noFill/>
          <a:ln/>
        </p:spPr>
        <p:txBody>
          <a:bodyPr wrap="square" rtlCol="0" anchor="ctr"/>
          <a:lstStyle/>
          <a:p>
            <a:pPr algn="ctr" indent="0" marL="0">
              <a:buNone/>
            </a:pPr>
            <a:r>
              <a:rPr lang="en-US" sz="1500" b="1" dirty="0">
                <a:solidFill>
                  <a:srgbClr val="2E74B5"/>
                </a:solidFill>
                <a:latin typeface="Calibri" pitchFamily="34" charset="0"/>
                <a:ea typeface="Calibri" pitchFamily="34" charset="-122"/>
                <a:cs typeface="Calibri" pitchFamily="34" charset="-120"/>
              </a:rPr>
              <a:t>4</a:t>
            </a:r>
            <a:endParaRPr lang="en-US" sz="1500" dirty="0"/>
          </a:p>
        </p:txBody>
      </p:sp>
      <p:sp>
        <p:nvSpPr>
          <p:cNvPr id="14" name="Text 12"/>
          <p:cNvSpPr/>
          <p:nvPr/>
        </p:nvSpPr>
        <p:spPr>
          <a:xfrm>
            <a:off x="1115568" y="4032504"/>
            <a:ext cx="10527487" cy="932688"/>
          </a:xfrm>
          <a:prstGeom prst="rect">
            <a:avLst/>
          </a:prstGeom>
          <a:noFill/>
          <a:ln/>
        </p:spPr>
        <p:txBody>
          <a:bodyPr wrap="square" rtlCol="0" anchor="t"/>
          <a:lstStyle/>
          <a:p>
            <a:pPr indent="0" marL="0">
              <a:lnSpc>
                <a:spcPct val="115000"/>
              </a:lnSpc>
              <a:buNone/>
            </a:pPr>
            <a:r>
              <a:rPr lang="en-US" sz="1400" b="1" dirty="0">
                <a:solidFill>
                  <a:srgbClr val="1F3864"/>
                </a:solidFill>
                <a:latin typeface="Calibri" pitchFamily="34" charset="0"/>
                <a:ea typeface="Calibri" pitchFamily="34" charset="-122"/>
                <a:cs typeface="Calibri" pitchFamily="34" charset="-120"/>
              </a:rPr>
              <a:t>Öngörünün üst sınırı var.  </a:t>
            </a:r>
            <a:pPr indent="0" marL="0">
              <a:lnSpc>
                <a:spcPct val="115000"/>
              </a:lnSpc>
              <a:buNone/>
            </a:pPr>
            <a:r>
              <a:rPr lang="en-US" sz="1400" dirty="0">
                <a:solidFill>
                  <a:srgbClr val="262626"/>
                </a:solidFill>
                <a:latin typeface="Calibri" pitchFamily="34" charset="0"/>
                <a:ea typeface="Calibri" pitchFamily="34" charset="-122"/>
                <a:cs typeface="Calibri" pitchFamily="34" charset="-120"/>
              </a:rPr>
              <a:t>Manevra yapan engelde büyük T, kaydırılan engel konumunu robotun gerisine düşürüyor; filtre QP açısından rahat kalıyor ama gerçek engele karşı körleşiyor. İmza: yüksek feasibility + düşük çarpışma sınırı.</a:t>
            </a:r>
            <a:endParaRPr lang="en-US" sz="1400" dirty="0"/>
          </a:p>
        </p:txBody>
      </p:sp>
      <p:sp>
        <p:nvSpPr>
          <p:cNvPr id="15" name="Shape 13"/>
          <p:cNvSpPr/>
          <p:nvPr/>
        </p:nvSpPr>
        <p:spPr>
          <a:xfrm>
            <a:off x="548640" y="4992624"/>
            <a:ext cx="384048" cy="384048"/>
          </a:xfrm>
          <a:prstGeom prst="ellipse">
            <a:avLst/>
          </a:prstGeom>
          <a:solidFill>
            <a:srgbClr val="DEEBF7"/>
          </a:solidFill>
          <a:ln w="12700">
            <a:solidFill>
              <a:srgbClr val="2E74B5"/>
            </a:solidFill>
            <a:prstDash val="solid"/>
          </a:ln>
        </p:spPr>
      </p:sp>
      <p:sp>
        <p:nvSpPr>
          <p:cNvPr id="16" name="Text 14"/>
          <p:cNvSpPr/>
          <p:nvPr/>
        </p:nvSpPr>
        <p:spPr>
          <a:xfrm>
            <a:off x="548640" y="4992624"/>
            <a:ext cx="384048" cy="384048"/>
          </a:xfrm>
          <a:prstGeom prst="rect">
            <a:avLst/>
          </a:prstGeom>
          <a:noFill/>
          <a:ln/>
        </p:spPr>
        <p:txBody>
          <a:bodyPr wrap="square" rtlCol="0" anchor="ctr"/>
          <a:lstStyle/>
          <a:p>
            <a:pPr algn="ctr" indent="0" marL="0">
              <a:buNone/>
            </a:pPr>
            <a:r>
              <a:rPr lang="en-US" sz="1500" b="1" dirty="0">
                <a:solidFill>
                  <a:srgbClr val="2E74B5"/>
                </a:solidFill>
                <a:latin typeface="Calibri" pitchFamily="34" charset="0"/>
                <a:ea typeface="Calibri" pitchFamily="34" charset="-122"/>
                <a:cs typeface="Calibri" pitchFamily="34" charset="-120"/>
              </a:rPr>
              <a:t>5</a:t>
            </a:r>
            <a:endParaRPr lang="en-US" sz="1500" dirty="0"/>
          </a:p>
        </p:txBody>
      </p:sp>
      <p:sp>
        <p:nvSpPr>
          <p:cNvPr id="17" name="Text 15"/>
          <p:cNvSpPr/>
          <p:nvPr/>
        </p:nvSpPr>
        <p:spPr>
          <a:xfrm>
            <a:off x="1115568" y="4965192"/>
            <a:ext cx="10527487" cy="932688"/>
          </a:xfrm>
          <a:prstGeom prst="rect">
            <a:avLst/>
          </a:prstGeom>
          <a:noFill/>
          <a:ln/>
        </p:spPr>
        <p:txBody>
          <a:bodyPr wrap="square" rtlCol="0" anchor="t"/>
          <a:lstStyle/>
          <a:p>
            <a:pPr indent="0" marL="0">
              <a:lnSpc>
                <a:spcPct val="115000"/>
              </a:lnSpc>
              <a:buNone/>
            </a:pPr>
            <a:r>
              <a:rPr lang="en-US" sz="1400" b="1" dirty="0">
                <a:solidFill>
                  <a:srgbClr val="1F3864"/>
                </a:solidFill>
                <a:latin typeface="Calibri" pitchFamily="34" charset="0"/>
                <a:ea typeface="Calibri" pitchFamily="34" charset="-122"/>
                <a:cs typeface="Calibri" pitchFamily="34" charset="-120"/>
              </a:rPr>
              <a:t>Yarım türetilmiş öngörü, öngörüsüzden kötü.  </a:t>
            </a:r>
            <a:pPr indent="0" marL="0">
              <a:lnSpc>
                <a:spcPct val="115000"/>
              </a:lnSpc>
              <a:buNone/>
            </a:pPr>
            <a:r>
              <a:rPr lang="en-US" sz="1400" dirty="0">
                <a:solidFill>
                  <a:srgbClr val="262626"/>
                </a:solidFill>
                <a:latin typeface="Calibri" pitchFamily="34" charset="0"/>
                <a:ea typeface="Calibri" pitchFamily="34" charset="-122"/>
                <a:cs typeface="Calibri" pitchFamily="34" charset="-120"/>
              </a:rPr>
              <a:t>Türev düzeltmesi yapılmayan konum kaydırma güvenliği azaltıyor.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58368"/>
          </a:xfrm>
          <a:prstGeom prst="rect">
            <a:avLst/>
          </a:prstGeom>
          <a:noFill/>
          <a:ln/>
        </p:spPr>
        <p:txBody>
          <a:bodyPr wrap="square" rtlCol="0" anchor="t"/>
          <a:lstStyle/>
          <a:p>
            <a:pPr algn="l" indent="0" marL="0">
              <a:buNone/>
            </a:pPr>
            <a:r>
              <a:rPr lang="en-US" sz="2600" b="1" dirty="0">
                <a:solidFill>
                  <a:srgbClr val="1F3864"/>
                </a:solidFill>
                <a:latin typeface="Calibri" pitchFamily="34" charset="0"/>
                <a:ea typeface="Calibri" pitchFamily="34" charset="-122"/>
                <a:cs typeface="Calibri" pitchFamily="34" charset="-120"/>
              </a:rPr>
              <a:t>Deneyler: Ne Bulduk — Sınır Eğrileri</a:t>
            </a:r>
            <a:endParaRPr lang="en-US" sz="2600" dirty="0"/>
          </a:p>
        </p:txBody>
      </p:sp>
      <p:sp>
        <p:nvSpPr>
          <p:cNvPr id="3" name="Text 1"/>
          <p:cNvSpPr/>
          <p:nvPr/>
        </p:nvSpPr>
        <p:spPr>
          <a:xfrm>
            <a:off x="548640" y="1170432"/>
            <a:ext cx="11094415" cy="365760"/>
          </a:xfrm>
          <a:prstGeom prst="rect">
            <a:avLst/>
          </a:prstGeom>
          <a:noFill/>
          <a:ln/>
        </p:spPr>
        <p:txBody>
          <a:bodyPr wrap="square" rtlCol="0" anchor="t"/>
          <a:lstStyle/>
          <a:p>
            <a:pPr algn="l" indent="0" marL="0">
              <a:lnSpc>
                <a:spcPct val="118000"/>
              </a:lnSpc>
              <a:buNone/>
            </a:pPr>
            <a:r>
              <a:rPr lang="en-US" sz="1350" i="1" dirty="0">
                <a:solidFill>
                  <a:srgbClr val="6B6B6B"/>
                </a:solidFill>
                <a:latin typeface="Calibri" pitchFamily="34" charset="0"/>
                <a:ea typeface="Calibri" pitchFamily="34" charset="-122"/>
                <a:cs typeface="Calibri" pitchFamily="34" charset="-120"/>
              </a:rPr>
              <a:t>Sayısal detaylar ve tam tablo için teknik rapora bakınız.</a:t>
            </a:r>
            <a:endParaRPr lang="en-US" sz="1350" dirty="0"/>
          </a:p>
        </p:txBody>
      </p:sp>
      <p:pic>
        <p:nvPicPr>
          <p:cNvPr id="4" name="Image 0" descr="C:\proje\proje\tez_cbf\docs\boundary_curves_fixed.png">    </p:cNvPr>
          <p:cNvPicPr>
            <a:picLocks noChangeAspect="1"/>
          </p:cNvPicPr>
          <p:nvPr/>
        </p:nvPicPr>
        <p:blipFill>
          <a:blip r:embed="rId1"/>
          <a:stretch>
            <a:fillRect/>
          </a:stretch>
        </p:blipFill>
        <p:spPr>
          <a:xfrm>
            <a:off x="548640" y="1691640"/>
            <a:ext cx="5387188" cy="1841282"/>
          </a:xfrm>
          <a:prstGeom prst="rect">
            <a:avLst/>
          </a:prstGeom>
        </p:spPr>
      </p:pic>
      <p:sp>
        <p:nvSpPr>
          <p:cNvPr id="5" name="Text 2"/>
          <p:cNvSpPr/>
          <p:nvPr/>
        </p:nvSpPr>
        <p:spPr>
          <a:xfrm>
            <a:off x="548640" y="3642650"/>
            <a:ext cx="5387188" cy="548640"/>
          </a:xfrm>
          <a:prstGeom prst="rect">
            <a:avLst/>
          </a:prstGeom>
          <a:noFill/>
          <a:ln/>
        </p:spPr>
        <p:txBody>
          <a:bodyPr wrap="square" rtlCol="0" anchor="ctr"/>
          <a:lstStyle/>
          <a:p>
            <a:pPr algn="ctr" indent="0" marL="0">
              <a:lnSpc>
                <a:spcPct val="110000"/>
              </a:lnSpc>
              <a:buNone/>
            </a:pPr>
            <a:r>
              <a:rPr lang="en-US" sz="1250" dirty="0">
                <a:solidFill>
                  <a:srgbClr val="6B6B6B"/>
                </a:solidFill>
                <a:latin typeface="Calibri" pitchFamily="34" charset="0"/>
                <a:ea typeface="Calibri" pitchFamily="34" charset="-122"/>
                <a:cs typeface="Calibri" pitchFamily="34" charset="-120"/>
              </a:rPr>
              <a:t>Sınır eğrileri — α, w, L eksenleri</a:t>
            </a:r>
            <a:endParaRPr lang="en-US" sz="1250" dirty="0"/>
          </a:p>
          <a:p>
            <a:pPr algn="ctr" indent="0" marL="0">
              <a:lnSpc>
                <a:spcPct val="110000"/>
              </a:lnSpc>
              <a:buNone/>
            </a:pPr>
            <a:r>
              <a:rPr lang="en-US" sz="1250" dirty="0">
                <a:solidFill>
                  <a:srgbClr val="6B6B6B"/>
                </a:solidFill>
                <a:latin typeface="Calibri" pitchFamily="34" charset="0"/>
                <a:ea typeface="Calibri" pitchFamily="34" charset="-122"/>
                <a:cs typeface="Calibri" pitchFamily="34" charset="-120"/>
              </a:rPr>
              <a:t>(çarpışma / gövde marjı / feasibility)</a:t>
            </a:r>
            <a:endParaRPr lang="en-US" sz="1250" dirty="0"/>
          </a:p>
        </p:txBody>
      </p:sp>
      <p:pic>
        <p:nvPicPr>
          <p:cNvPr id="6" name="Image 1" descr="C:\proje\proje\tez_cbf\docs\t_sweep_full.png">    </p:cNvPr>
          <p:cNvPicPr>
            <a:picLocks noChangeAspect="1"/>
          </p:cNvPicPr>
          <p:nvPr/>
        </p:nvPicPr>
        <p:blipFill>
          <a:blip r:embed="rId2"/>
          <a:stretch>
            <a:fillRect/>
          </a:stretch>
        </p:blipFill>
        <p:spPr>
          <a:xfrm>
            <a:off x="6255868" y="1691640"/>
            <a:ext cx="5387188" cy="2154875"/>
          </a:xfrm>
          <a:prstGeom prst="rect">
            <a:avLst/>
          </a:prstGeom>
        </p:spPr>
      </p:pic>
      <p:sp>
        <p:nvSpPr>
          <p:cNvPr id="7" name="Text 3"/>
          <p:cNvSpPr/>
          <p:nvPr/>
        </p:nvSpPr>
        <p:spPr>
          <a:xfrm>
            <a:off x="6255868" y="3956243"/>
            <a:ext cx="5387188" cy="548640"/>
          </a:xfrm>
          <a:prstGeom prst="rect">
            <a:avLst/>
          </a:prstGeom>
          <a:noFill/>
          <a:ln/>
        </p:spPr>
        <p:txBody>
          <a:bodyPr wrap="square" rtlCol="0" anchor="ctr"/>
          <a:lstStyle/>
          <a:p>
            <a:pPr algn="ctr" indent="0" marL="0">
              <a:lnSpc>
                <a:spcPct val="110000"/>
              </a:lnSpc>
              <a:buNone/>
            </a:pPr>
            <a:r>
              <a:rPr lang="en-US" sz="1250" dirty="0">
                <a:solidFill>
                  <a:srgbClr val="6B6B6B"/>
                </a:solidFill>
                <a:latin typeface="Calibri" pitchFamily="34" charset="0"/>
                <a:ea typeface="Calibri" pitchFamily="34" charset="-122"/>
                <a:cs typeface="Calibri" pitchFamily="34" charset="-120"/>
              </a:rPr>
              <a:t>Öngörü ufku (T) taraması — düz vs manevra eden engel</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58368"/>
          </a:xfrm>
          <a:prstGeom prst="rect">
            <a:avLst/>
          </a:prstGeom>
          <a:noFill/>
          <a:ln/>
        </p:spPr>
        <p:txBody>
          <a:bodyPr wrap="square" rtlCol="0" anchor="t"/>
          <a:lstStyle/>
          <a:p>
            <a:pPr algn="l" indent="0" marL="0">
              <a:buNone/>
            </a:pPr>
            <a:r>
              <a:rPr lang="en-US" sz="2600" b="1" dirty="0">
                <a:solidFill>
                  <a:srgbClr val="1F3864"/>
                </a:solidFill>
                <a:latin typeface="Calibri" pitchFamily="34" charset="0"/>
                <a:ea typeface="Calibri" pitchFamily="34" charset="-122"/>
                <a:cs typeface="Calibri" pitchFamily="34" charset="-120"/>
              </a:rPr>
              <a:t>Geçerlilik Sınırları</a:t>
            </a:r>
            <a:endParaRPr lang="en-US" sz="2600" dirty="0"/>
          </a:p>
        </p:txBody>
      </p:sp>
      <p:sp>
        <p:nvSpPr>
          <p:cNvPr id="3" name="Text 1"/>
          <p:cNvSpPr/>
          <p:nvPr/>
        </p:nvSpPr>
        <p:spPr>
          <a:xfrm>
            <a:off x="548640" y="1234440"/>
            <a:ext cx="11094415" cy="365760"/>
          </a:xfrm>
          <a:prstGeom prst="rect">
            <a:avLst/>
          </a:prstGeom>
          <a:noFill/>
          <a:ln/>
        </p:spPr>
        <p:txBody>
          <a:bodyPr wrap="square" rtlCol="0" anchor="t"/>
          <a:lstStyle/>
          <a:p>
            <a:pPr algn="l" indent="0" marL="0">
              <a:lnSpc>
                <a:spcPct val="118000"/>
              </a:lnSpc>
              <a:buNone/>
            </a:pPr>
            <a:r>
              <a:rPr lang="en-US" sz="1600" b="1" dirty="0">
                <a:solidFill>
                  <a:srgbClr val="1F3864"/>
                </a:solidFill>
                <a:latin typeface="Calibri" pitchFamily="34" charset="0"/>
                <a:ea typeface="Calibri" pitchFamily="34" charset="-122"/>
                <a:cs typeface="Calibri" pitchFamily="34" charset="-120"/>
              </a:rPr>
              <a:t>Açıkça belirtilmeli:</a:t>
            </a:r>
            <a:endParaRPr lang="en-US" sz="1600" dirty="0"/>
          </a:p>
        </p:txBody>
      </p:sp>
      <p:sp>
        <p:nvSpPr>
          <p:cNvPr id="4" name="Text 2"/>
          <p:cNvSpPr/>
          <p:nvPr/>
        </p:nvSpPr>
        <p:spPr>
          <a:xfrm>
            <a:off x="548640" y="1783080"/>
            <a:ext cx="11094415" cy="3931920"/>
          </a:xfrm>
          <a:prstGeom prst="rect">
            <a:avLst/>
          </a:prstGeom>
          <a:noFill/>
          <a:ln/>
        </p:spPr>
        <p:txBody>
          <a:bodyPr wrap="square" rtlCol="0" anchor="t"/>
          <a:lstStyle/>
          <a:p>
            <a:pPr marL="203200" indent="-203200">
              <a:lnSpc>
                <a:spcPct val="118000"/>
              </a:lnSpc>
              <a:spcAft>
                <a:spcPts val="1600"/>
              </a:spcAft>
              <a:buSzPct val="100000"/>
              <a:buChar char="–"/>
            </a:pPr>
            <a:r>
              <a:rPr lang="en-US" sz="1600" dirty="0">
                <a:solidFill>
                  <a:srgbClr val="262626"/>
                </a:solidFill>
                <a:latin typeface="Calibri" pitchFamily="34" charset="0"/>
                <a:ea typeface="Calibri" pitchFamily="34" charset="-122"/>
                <a:cs typeface="Calibri" pitchFamily="34" charset="-120"/>
              </a:rPr>
              <a:t>Tüm sonuçlar simülasyon; donanım doğrulaması yapılmadı.</a:t>
            </a:r>
            <a:endParaRPr lang="en-US" sz="1600" dirty="0"/>
          </a:p>
          <a:p>
            <a:pPr marL="203200" indent="-203200">
              <a:lnSpc>
                <a:spcPct val="118000"/>
              </a:lnSpc>
              <a:spcAft>
                <a:spcPts val="1600"/>
              </a:spcAft>
              <a:buSzPct val="100000"/>
              <a:buChar char="–"/>
            </a:pPr>
            <a:r>
              <a:rPr lang="en-US" sz="1600" dirty="0">
                <a:solidFill>
                  <a:srgbClr val="262626"/>
                </a:solidFill>
                <a:latin typeface="Calibri" pitchFamily="34" charset="0"/>
                <a:ea typeface="Calibri" pitchFamily="34" charset="-122"/>
                <a:cs typeface="Calibri" pitchFamily="34" charset="-120"/>
              </a:rPr>
              <a:t>Engel hızı ground truth'tan; kestirim katmanı devrede değil. Bu harita aktüasyon-sınırlı sınırı ölçüyor, kestirim-sınırlı sınır ölçülmedi.</a:t>
            </a:r>
            <a:endParaRPr lang="en-US" sz="1600" dirty="0"/>
          </a:p>
          <a:p>
            <a:pPr marL="203200" indent="-203200">
              <a:lnSpc>
                <a:spcPct val="118000"/>
              </a:lnSpc>
              <a:spcAft>
                <a:spcPts val="1600"/>
              </a:spcAft>
              <a:buSzPct val="100000"/>
              <a:buChar char="–"/>
            </a:pPr>
            <a:r>
              <a:rPr lang="en-US" sz="1600" dirty="0">
                <a:solidFill>
                  <a:srgbClr val="262626"/>
                </a:solidFill>
                <a:latin typeface="Calibri" pitchFamily="34" charset="0"/>
                <a:ea typeface="Calibri" pitchFamily="34" charset="-122"/>
                <a:cs typeface="Calibri" pitchFamily="34" charset="-120"/>
              </a:rPr>
              <a:t>Karşılaştırma kendi modlarımız arasında; yayınlanmış bir yönteme karşı kıyas yapılmadı.</a:t>
            </a:r>
            <a:endParaRPr lang="en-US" sz="1600" dirty="0"/>
          </a:p>
          <a:p>
            <a:pPr marL="203200" indent="-203200">
              <a:lnSpc>
                <a:spcPct val="118000"/>
              </a:lnSpc>
              <a:spcAft>
                <a:spcPts val="1600"/>
              </a:spcAft>
              <a:buSzPct val="100000"/>
              <a:buChar char="–"/>
            </a:pPr>
            <a:r>
              <a:rPr lang="en-US" sz="1600" dirty="0">
                <a:solidFill>
                  <a:srgbClr val="262626"/>
                </a:solidFill>
                <a:latin typeface="Calibri" pitchFamily="34" charset="0"/>
                <a:ea typeface="Calibri" pitchFamily="34" charset="-122"/>
                <a:cs typeface="Calibri" pitchFamily="34" charset="-120"/>
              </a:rPr>
              <a:t>Simülatör artefaktları tespit edildi (kafa-kafaya geometride tünelleme, düşük hızda stick-slip).</a:t>
            </a:r>
            <a:endParaRPr lang="en-US" sz="1600" dirty="0"/>
          </a:p>
          <a:p>
            <a:pPr marL="203200" indent="-203200">
              <a:lnSpc>
                <a:spcPct val="118000"/>
              </a:lnSpc>
              <a:spcAft>
                <a:spcPts val="1600"/>
              </a:spcAft>
              <a:buSzPct val="100000"/>
              <a:buChar char="–"/>
            </a:pPr>
            <a:r>
              <a:rPr lang="en-US" sz="1600" dirty="0">
                <a:solidFill>
                  <a:srgbClr val="262626"/>
                </a:solidFill>
                <a:latin typeface="Calibri" pitchFamily="34" charset="0"/>
                <a:ea typeface="Calibri" pitchFamily="34" charset="-122"/>
                <a:cs typeface="Calibri" pitchFamily="34" charset="-120"/>
              </a:rPr>
              <a:t>Bazı kritik hız değerleri ölçüm değil, tarama aralığından interpolasyon.</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58368"/>
          </a:xfrm>
          <a:prstGeom prst="rect">
            <a:avLst/>
          </a:prstGeom>
          <a:noFill/>
          <a:ln/>
        </p:spPr>
        <p:txBody>
          <a:bodyPr wrap="square" rtlCol="0" anchor="t"/>
          <a:lstStyle/>
          <a:p>
            <a:pPr algn="l" indent="0" marL="0">
              <a:buNone/>
            </a:pPr>
            <a:r>
              <a:rPr lang="en-US" sz="2600" b="1" dirty="0">
                <a:solidFill>
                  <a:srgbClr val="1F3864"/>
                </a:solidFill>
                <a:latin typeface="Calibri" pitchFamily="34" charset="0"/>
                <a:ea typeface="Calibri" pitchFamily="34" charset="-122"/>
                <a:cs typeface="Calibri" pitchFamily="34" charset="-120"/>
              </a:rPr>
              <a:t>Yol Haritası</a:t>
            </a:r>
            <a:endParaRPr lang="en-US" sz="2600" dirty="0"/>
          </a:p>
        </p:txBody>
      </p:sp>
      <p:sp>
        <p:nvSpPr>
          <p:cNvPr id="3" name="Text 1"/>
          <p:cNvSpPr/>
          <p:nvPr/>
        </p:nvSpPr>
        <p:spPr>
          <a:xfrm>
            <a:off x="548640" y="1234440"/>
            <a:ext cx="5364328" cy="320040"/>
          </a:xfrm>
          <a:prstGeom prst="rect">
            <a:avLst/>
          </a:prstGeom>
          <a:noFill/>
          <a:ln/>
        </p:spPr>
        <p:txBody>
          <a:bodyPr wrap="square" rtlCol="0" anchor="ctr"/>
          <a:lstStyle/>
          <a:p>
            <a:pPr indent="0" marL="0">
              <a:buNone/>
            </a:pPr>
            <a:r>
              <a:rPr lang="en-US" sz="1400" b="1" dirty="0">
                <a:solidFill>
                  <a:srgbClr val="2E74B5"/>
                </a:solidFill>
                <a:latin typeface="Calibri" pitchFamily="34" charset="0"/>
                <a:ea typeface="Calibri" pitchFamily="34" charset="-122"/>
                <a:cs typeface="Calibri" pitchFamily="34" charset="-120"/>
              </a:rPr>
              <a:t>YAKIN</a:t>
            </a:r>
            <a:endParaRPr lang="en-US" sz="1400" dirty="0"/>
          </a:p>
        </p:txBody>
      </p:sp>
      <p:sp>
        <p:nvSpPr>
          <p:cNvPr id="4" name="Text 2"/>
          <p:cNvSpPr/>
          <p:nvPr/>
        </p:nvSpPr>
        <p:spPr>
          <a:xfrm>
            <a:off x="548640" y="1581912"/>
            <a:ext cx="5364328" cy="1828800"/>
          </a:xfrm>
          <a:prstGeom prst="rect">
            <a:avLst/>
          </a:prstGeom>
          <a:noFill/>
          <a:ln/>
        </p:spPr>
        <p:txBody>
          <a:bodyPr wrap="square" rtlCol="0" anchor="t"/>
          <a:lstStyle/>
          <a:p>
            <a:pPr marL="342900" indent="-342900">
              <a:lnSpc>
                <a:spcPct val="110000"/>
              </a:lnSpc>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Ölçüm belirsizliğinin nicelleştirilmesi (güven aralıkları)</a:t>
            </a:r>
            <a:endParaRPr lang="en-US" sz="1200" dirty="0"/>
          </a:p>
          <a:p>
            <a:pPr marL="342900" indent="-342900">
              <a:lnSpc>
                <a:spcPct val="110000"/>
              </a:lnSpc>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ICS sınırının analitik hesabı → indirgenemez / indirgenebilir hücre ayrımı (filtre kusuru ile fiziksel imkânsızlığın ayrıştırılması)</a:t>
            </a:r>
            <a:endParaRPr lang="en-US" sz="1200" dirty="0"/>
          </a:p>
          <a:p>
            <a:pPr marL="342900" indent="-342900">
              <a:lnSpc>
                <a:spcPct val="110000"/>
              </a:lnSpc>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Uyarlanabilir öngörü ufku: T_etkin = min(T, t_en_yakın_yaklaşma)</a:t>
            </a:r>
            <a:endParaRPr lang="en-US" sz="1200" dirty="0"/>
          </a:p>
        </p:txBody>
      </p:sp>
      <p:sp>
        <p:nvSpPr>
          <p:cNvPr id="5" name="Text 3"/>
          <p:cNvSpPr/>
          <p:nvPr/>
        </p:nvSpPr>
        <p:spPr>
          <a:xfrm>
            <a:off x="548640" y="3429000"/>
            <a:ext cx="5364328" cy="320040"/>
          </a:xfrm>
          <a:prstGeom prst="rect">
            <a:avLst/>
          </a:prstGeom>
          <a:noFill/>
          <a:ln/>
        </p:spPr>
        <p:txBody>
          <a:bodyPr wrap="square" rtlCol="0" anchor="ctr"/>
          <a:lstStyle/>
          <a:p>
            <a:pPr indent="0" marL="0">
              <a:buNone/>
            </a:pPr>
            <a:r>
              <a:rPr lang="en-US" sz="1400" b="1" dirty="0">
                <a:solidFill>
                  <a:srgbClr val="2E74B5"/>
                </a:solidFill>
                <a:latin typeface="Calibri" pitchFamily="34" charset="0"/>
                <a:ea typeface="Calibri" pitchFamily="34" charset="-122"/>
                <a:cs typeface="Calibri" pitchFamily="34" charset="-120"/>
              </a:rPr>
              <a:t>ORTA</a:t>
            </a:r>
            <a:endParaRPr lang="en-US" sz="1400" dirty="0"/>
          </a:p>
        </p:txBody>
      </p:sp>
      <p:sp>
        <p:nvSpPr>
          <p:cNvPr id="6" name="Text 4"/>
          <p:cNvSpPr/>
          <p:nvPr/>
        </p:nvSpPr>
        <p:spPr>
          <a:xfrm>
            <a:off x="548640" y="3776472"/>
            <a:ext cx="5364328" cy="1828800"/>
          </a:xfrm>
          <a:prstGeom prst="rect">
            <a:avLst/>
          </a:prstGeom>
          <a:noFill/>
          <a:ln/>
        </p:spPr>
        <p:txBody>
          <a:bodyPr wrap="square" rtlCol="0" anchor="t"/>
          <a:lstStyle/>
          <a:p>
            <a:pPr marL="342900" indent="-342900">
              <a:lnSpc>
                <a:spcPct val="110000"/>
              </a:lnSpc>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Collision-cone CBF (C3BF) → kafa-kafaya dejenerasyonu ve gereksiz konservatifliği birlikte hedefler → aynı zamanda eksik olan harici baseline</a:t>
            </a:r>
            <a:endParaRPr lang="en-US" sz="1200" dirty="0"/>
          </a:p>
          <a:p>
            <a:pPr marL="342900" indent="-342900">
              <a:lnSpc>
                <a:spcPct val="110000"/>
              </a:lnSpc>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Lidar tabanlı algılama + durum kestirimi</a:t>
            </a:r>
            <a:endParaRPr lang="en-US" sz="1200" dirty="0"/>
          </a:p>
          <a:p>
            <a:pPr marL="342900" indent="-342900">
              <a:lnSpc>
                <a:spcPct val="110000"/>
              </a:lnSpc>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2×2 ablasyon: {ground truth, kestirim} × {düz, manevra} → kestirim-sınırlı ve aktüasyon-sınırlı başarısızlığın ayrıştırılması</a:t>
            </a:r>
            <a:endParaRPr lang="en-US" sz="1200" dirty="0"/>
          </a:p>
          <a:p>
            <a:pPr marL="342900" indent="-342900">
              <a:lnSpc>
                <a:spcPct val="110000"/>
              </a:lnSpc>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Gecikme ekseni: yapay gecikme enjeksiyonu, donanım öncesi hazırlık</a:t>
            </a:r>
            <a:endParaRPr lang="en-US" sz="1200" dirty="0"/>
          </a:p>
        </p:txBody>
      </p:sp>
      <p:sp>
        <p:nvSpPr>
          <p:cNvPr id="7" name="Text 5"/>
          <p:cNvSpPr/>
          <p:nvPr/>
        </p:nvSpPr>
        <p:spPr>
          <a:xfrm>
            <a:off x="6278728" y="1234440"/>
            <a:ext cx="5364328" cy="320040"/>
          </a:xfrm>
          <a:prstGeom prst="rect">
            <a:avLst/>
          </a:prstGeom>
          <a:noFill/>
          <a:ln/>
        </p:spPr>
        <p:txBody>
          <a:bodyPr wrap="square" rtlCol="0" anchor="ctr"/>
          <a:lstStyle/>
          <a:p>
            <a:pPr indent="0" marL="0">
              <a:buNone/>
            </a:pPr>
            <a:r>
              <a:rPr lang="en-US" sz="1400" b="1" dirty="0">
                <a:solidFill>
                  <a:srgbClr val="BF8F00"/>
                </a:solidFill>
                <a:latin typeface="Calibri" pitchFamily="34" charset="0"/>
                <a:ea typeface="Calibri" pitchFamily="34" charset="-122"/>
                <a:cs typeface="Calibri" pitchFamily="34" charset="-120"/>
              </a:rPr>
              <a:t>AÇIK TASARIM KARARI (danışmanla belirlenecek)</a:t>
            </a:r>
            <a:endParaRPr lang="en-US" sz="1400" dirty="0"/>
          </a:p>
        </p:txBody>
      </p:sp>
      <p:sp>
        <p:nvSpPr>
          <p:cNvPr id="8" name="Text 6"/>
          <p:cNvSpPr/>
          <p:nvPr/>
        </p:nvSpPr>
        <p:spPr>
          <a:xfrm>
            <a:off x="6278728" y="1581912"/>
            <a:ext cx="5364328" cy="1828800"/>
          </a:xfrm>
          <a:prstGeom prst="rect">
            <a:avLst/>
          </a:prstGeom>
          <a:noFill/>
          <a:ln/>
        </p:spPr>
        <p:txBody>
          <a:bodyPr wrap="square" rtlCol="0" anchor="t"/>
          <a:lstStyle/>
          <a:p>
            <a:pPr marL="342900" indent="-342900">
              <a:lnSpc>
                <a:spcPct val="110000"/>
              </a:lnSpc>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Doygunluk rejiminde filtrenin amacı ne olmalı?</a:t>
            </a:r>
            <a:endParaRPr lang="en-US" sz="1200" dirty="0"/>
          </a:p>
          <a:p>
            <a:pPr marL="342900" indent="-342900">
              <a:lnSpc>
                <a:spcPct val="110000"/>
              </a:lnSpc>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Şu an: kısıt ihlali minimize ediliyor (anlık kriter).</a:t>
            </a:r>
            <a:endParaRPr lang="en-US" sz="1200" dirty="0"/>
          </a:p>
          <a:p>
            <a:pPr marL="342900" indent="-342900">
              <a:lnSpc>
                <a:spcPct val="110000"/>
              </a:lnSpc>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Alternatif: en yakın yaklaşma mesafesi maksimize edilebilir (terminal kriter).</a:t>
            </a:r>
            <a:endParaRPr lang="en-US" sz="1200" dirty="0"/>
          </a:p>
          <a:p>
            <a:pPr marL="342900" indent="-342900">
              <a:lnSpc>
                <a:spcPct val="110000"/>
              </a:lnSpc>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Literatürde infeasibility altındaki davranış büyük ölçüde tanımsız — potansiyel katkı alanı.</a:t>
            </a:r>
            <a:endParaRPr lang="en-US" sz="1200" dirty="0"/>
          </a:p>
        </p:txBody>
      </p:sp>
      <p:sp>
        <p:nvSpPr>
          <p:cNvPr id="9" name="Text 7"/>
          <p:cNvSpPr/>
          <p:nvPr/>
        </p:nvSpPr>
        <p:spPr>
          <a:xfrm>
            <a:off x="6278728" y="4160520"/>
            <a:ext cx="5364328" cy="320040"/>
          </a:xfrm>
          <a:prstGeom prst="rect">
            <a:avLst/>
          </a:prstGeom>
          <a:noFill/>
          <a:ln/>
        </p:spPr>
        <p:txBody>
          <a:bodyPr wrap="square" rtlCol="0" anchor="ctr"/>
          <a:lstStyle/>
          <a:p>
            <a:pPr indent="0" marL="0">
              <a:buNone/>
            </a:pPr>
            <a:r>
              <a:rPr lang="en-US" sz="1400" b="1" dirty="0">
                <a:solidFill>
                  <a:srgbClr val="6B6B6B"/>
                </a:solidFill>
                <a:latin typeface="Calibri" pitchFamily="34" charset="0"/>
                <a:ea typeface="Calibri" pitchFamily="34" charset="-122"/>
                <a:cs typeface="Calibri" pitchFamily="34" charset="-120"/>
              </a:rPr>
              <a:t>UZAK</a:t>
            </a:r>
            <a:endParaRPr lang="en-US" sz="1400" dirty="0"/>
          </a:p>
        </p:txBody>
      </p:sp>
      <p:sp>
        <p:nvSpPr>
          <p:cNvPr id="10" name="Text 8"/>
          <p:cNvSpPr/>
          <p:nvPr/>
        </p:nvSpPr>
        <p:spPr>
          <a:xfrm>
            <a:off x="6278728" y="4507992"/>
            <a:ext cx="5364328" cy="1828800"/>
          </a:xfrm>
          <a:prstGeom prst="rect">
            <a:avLst/>
          </a:prstGeom>
          <a:noFill/>
          <a:ln/>
        </p:spPr>
        <p:txBody>
          <a:bodyPr wrap="square" rtlCol="0" anchor="t"/>
          <a:lstStyle/>
          <a:p>
            <a:pPr marL="342900" indent="-342900">
              <a:lnSpc>
                <a:spcPct val="110000"/>
              </a:lnSpc>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Donanım: robot + harici konum referansı + hareketli engel düzeneği</a:t>
            </a:r>
            <a:endParaRPr lang="en-US" sz="1200" dirty="0"/>
          </a:p>
          <a:p>
            <a:pPr marL="342900" indent="-342900">
              <a:lnSpc>
                <a:spcPct val="110000"/>
              </a:lnSpc>
              <a:spcAft>
                <a:spcPts val="600"/>
              </a:spcAft>
              <a:buSzPct val="100000"/>
              <a:buChar char="–"/>
            </a:pPr>
            <a:r>
              <a:rPr lang="en-US" sz="1200" dirty="0">
                <a:solidFill>
                  <a:srgbClr val="262626"/>
                </a:solidFill>
                <a:latin typeface="Calibri" pitchFamily="34" charset="0"/>
                <a:ea typeface="Calibri" pitchFamily="34" charset="-122"/>
                <a:cs typeface="Calibri" pitchFamily="34" charset="-120"/>
              </a:rPr>
              <a:t>Bildiri (simülasyon), ardından dergi (donanım sonrası)</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58368"/>
          </a:xfrm>
          <a:prstGeom prst="rect">
            <a:avLst/>
          </a:prstGeom>
          <a:noFill/>
          <a:ln/>
        </p:spPr>
        <p:txBody>
          <a:bodyPr wrap="square" rtlCol="0" anchor="t"/>
          <a:lstStyle/>
          <a:p>
            <a:pPr algn="l" indent="0" marL="0">
              <a:buNone/>
            </a:pPr>
            <a:r>
              <a:rPr lang="en-US" sz="2600" b="1" dirty="0">
                <a:solidFill>
                  <a:srgbClr val="1F3864"/>
                </a:solidFill>
                <a:latin typeface="Calibri" pitchFamily="34" charset="0"/>
                <a:ea typeface="Calibri" pitchFamily="34" charset="-122"/>
                <a:cs typeface="Calibri" pitchFamily="34" charset="-120"/>
              </a:rPr>
              <a:t>Açık Sorular</a:t>
            </a:r>
            <a:endParaRPr lang="en-US" sz="2600" dirty="0"/>
          </a:p>
        </p:txBody>
      </p:sp>
      <p:sp>
        <p:nvSpPr>
          <p:cNvPr id="3" name="Text 1"/>
          <p:cNvSpPr/>
          <p:nvPr/>
        </p:nvSpPr>
        <p:spPr>
          <a:xfrm>
            <a:off x="548640" y="1371600"/>
            <a:ext cx="502920" cy="1170432"/>
          </a:xfrm>
          <a:prstGeom prst="rect">
            <a:avLst/>
          </a:prstGeom>
          <a:noFill/>
          <a:ln/>
        </p:spPr>
        <p:txBody>
          <a:bodyPr wrap="square" rtlCol="0" anchor="t"/>
          <a:lstStyle/>
          <a:p>
            <a:pPr algn="ctr" indent="0" marL="0">
              <a:buNone/>
            </a:pPr>
            <a:r>
              <a:rPr lang="en-US" sz="2600" b="1" dirty="0">
                <a:solidFill>
                  <a:srgbClr val="2E74B5"/>
                </a:solidFill>
                <a:latin typeface="Calibri" pitchFamily="34" charset="0"/>
                <a:ea typeface="Calibri" pitchFamily="34" charset="-122"/>
                <a:cs typeface="Calibri" pitchFamily="34" charset="-120"/>
              </a:rPr>
              <a:t>?</a:t>
            </a:r>
            <a:endParaRPr lang="en-US" sz="2600" dirty="0"/>
          </a:p>
        </p:txBody>
      </p:sp>
      <p:sp>
        <p:nvSpPr>
          <p:cNvPr id="4" name="Text 2"/>
          <p:cNvSpPr/>
          <p:nvPr/>
        </p:nvSpPr>
        <p:spPr>
          <a:xfrm>
            <a:off x="1234440" y="1371600"/>
            <a:ext cx="10408615" cy="1170432"/>
          </a:xfrm>
          <a:prstGeom prst="rect">
            <a:avLst/>
          </a:prstGeom>
          <a:noFill/>
          <a:ln/>
        </p:spPr>
        <p:txBody>
          <a:bodyPr wrap="square" rtlCol="0" anchor="t"/>
          <a:lstStyle/>
          <a:p>
            <a:pPr indent="0" marL="0">
              <a:lnSpc>
                <a:spcPct val="118000"/>
              </a:lnSpc>
              <a:buNone/>
            </a:pPr>
            <a:r>
              <a:rPr lang="en-US" sz="1550" dirty="0">
                <a:solidFill>
                  <a:srgbClr val="262626"/>
                </a:solidFill>
                <a:latin typeface="Calibri" pitchFamily="34" charset="0"/>
                <a:ea typeface="Calibri" pitchFamily="34" charset="-122"/>
                <a:cs typeface="Calibri" pitchFamily="34" charset="-120"/>
              </a:rPr>
              <a:t>Analitik sınır formülü deneysel haritayı öngörüyor mu? Öngörmüyorsa neyi ihmal ediyor — lookahead konservatifliği, ω kanalı, maliyet ağırlıkları?</a:t>
            </a:r>
            <a:endParaRPr lang="en-US" sz="1550" dirty="0"/>
          </a:p>
        </p:txBody>
      </p:sp>
      <p:sp>
        <p:nvSpPr>
          <p:cNvPr id="5" name="Text 3"/>
          <p:cNvSpPr/>
          <p:nvPr/>
        </p:nvSpPr>
        <p:spPr>
          <a:xfrm>
            <a:off x="548640" y="2542032"/>
            <a:ext cx="502920" cy="1170432"/>
          </a:xfrm>
          <a:prstGeom prst="rect">
            <a:avLst/>
          </a:prstGeom>
          <a:noFill/>
          <a:ln/>
        </p:spPr>
        <p:txBody>
          <a:bodyPr wrap="square" rtlCol="0" anchor="t"/>
          <a:lstStyle/>
          <a:p>
            <a:pPr algn="ctr" indent="0" marL="0">
              <a:buNone/>
            </a:pPr>
            <a:r>
              <a:rPr lang="en-US" sz="2600" b="1" dirty="0">
                <a:solidFill>
                  <a:srgbClr val="2E74B5"/>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1234440" y="2542032"/>
            <a:ext cx="10408615" cy="1170432"/>
          </a:xfrm>
          <a:prstGeom prst="rect">
            <a:avLst/>
          </a:prstGeom>
          <a:noFill/>
          <a:ln/>
        </p:spPr>
        <p:txBody>
          <a:bodyPr wrap="square" rtlCol="0" anchor="t"/>
          <a:lstStyle/>
          <a:p>
            <a:pPr indent="0" marL="0">
              <a:lnSpc>
                <a:spcPct val="118000"/>
              </a:lnSpc>
              <a:buNone/>
            </a:pPr>
            <a:r>
              <a:rPr lang="en-US" sz="1550" dirty="0">
                <a:solidFill>
                  <a:srgbClr val="262626"/>
                </a:solidFill>
                <a:latin typeface="Calibri" pitchFamily="34" charset="0"/>
                <a:ea typeface="Calibri" pitchFamily="34" charset="-122"/>
                <a:cs typeface="Calibri" pitchFamily="34" charset="-120"/>
              </a:rPr>
              <a:t>Sınır neye bağlı: engel hızına mı, hız oranına mı, kapanma hızına mı? Robot hızı hiç değiştirilmedi; üçü bu veri setinde ayırt edilemiyor.</a:t>
            </a:r>
            <a:endParaRPr lang="en-US" sz="1550" dirty="0"/>
          </a:p>
        </p:txBody>
      </p:sp>
      <p:sp>
        <p:nvSpPr>
          <p:cNvPr id="7" name="Text 5"/>
          <p:cNvSpPr/>
          <p:nvPr/>
        </p:nvSpPr>
        <p:spPr>
          <a:xfrm>
            <a:off x="548640" y="3712464"/>
            <a:ext cx="502920" cy="1170432"/>
          </a:xfrm>
          <a:prstGeom prst="rect">
            <a:avLst/>
          </a:prstGeom>
          <a:noFill/>
          <a:ln/>
        </p:spPr>
        <p:txBody>
          <a:bodyPr wrap="square" rtlCol="0" anchor="t"/>
          <a:lstStyle/>
          <a:p>
            <a:pPr algn="ctr" indent="0" marL="0">
              <a:buNone/>
            </a:pPr>
            <a:r>
              <a:rPr lang="en-US" sz="2600" b="1" dirty="0">
                <a:solidFill>
                  <a:srgbClr val="2E74B5"/>
                </a:solidFill>
                <a:latin typeface="Calibri" pitchFamily="34" charset="0"/>
                <a:ea typeface="Calibri" pitchFamily="34" charset="-122"/>
                <a:cs typeface="Calibri" pitchFamily="34" charset="-120"/>
              </a:rPr>
              <a:t>?</a:t>
            </a:r>
            <a:endParaRPr lang="en-US" sz="2600" dirty="0"/>
          </a:p>
        </p:txBody>
      </p:sp>
      <p:sp>
        <p:nvSpPr>
          <p:cNvPr id="8" name="Text 6"/>
          <p:cNvSpPr/>
          <p:nvPr/>
        </p:nvSpPr>
        <p:spPr>
          <a:xfrm>
            <a:off x="1234440" y="3712464"/>
            <a:ext cx="10408615" cy="1170432"/>
          </a:xfrm>
          <a:prstGeom prst="rect">
            <a:avLst/>
          </a:prstGeom>
          <a:noFill/>
          <a:ln/>
        </p:spPr>
        <p:txBody>
          <a:bodyPr wrap="square" rtlCol="0" anchor="t"/>
          <a:lstStyle/>
          <a:p>
            <a:pPr indent="0" marL="0">
              <a:lnSpc>
                <a:spcPct val="118000"/>
              </a:lnSpc>
              <a:buNone/>
            </a:pPr>
            <a:r>
              <a:rPr lang="en-US" sz="1550" dirty="0">
                <a:solidFill>
                  <a:srgbClr val="262626"/>
                </a:solidFill>
                <a:latin typeface="Calibri" pitchFamily="34" charset="0"/>
                <a:ea typeface="Calibri" pitchFamily="34" charset="-122"/>
                <a:cs typeface="Calibri" pitchFamily="34" charset="-120"/>
              </a:rPr>
              <a:t>Doygunlukta filtre ne yapmalı? Anlık kriterin argmax'ı "doğrudan uzağa dönük"; dönüş süresi boyunca yer değiştirme olmuyor.</a:t>
            </a:r>
            <a:endParaRPr lang="en-US" sz="1550" dirty="0"/>
          </a:p>
        </p:txBody>
      </p:sp>
      <p:sp>
        <p:nvSpPr>
          <p:cNvPr id="9" name="Text 7"/>
          <p:cNvSpPr/>
          <p:nvPr/>
        </p:nvSpPr>
        <p:spPr>
          <a:xfrm>
            <a:off x="548640" y="4882896"/>
            <a:ext cx="502920" cy="1170432"/>
          </a:xfrm>
          <a:prstGeom prst="rect">
            <a:avLst/>
          </a:prstGeom>
          <a:noFill/>
          <a:ln/>
        </p:spPr>
        <p:txBody>
          <a:bodyPr wrap="square" rtlCol="0" anchor="t"/>
          <a:lstStyle/>
          <a:p>
            <a:pPr algn="ctr" indent="0" marL="0">
              <a:buNone/>
            </a:pPr>
            <a:r>
              <a:rPr lang="en-US" sz="2600" b="1" dirty="0">
                <a:solidFill>
                  <a:srgbClr val="2E74B5"/>
                </a:solidFill>
                <a:latin typeface="Calibri" pitchFamily="34" charset="0"/>
                <a:ea typeface="Calibri" pitchFamily="34" charset="-122"/>
                <a:cs typeface="Calibri" pitchFamily="34" charset="-120"/>
              </a:rPr>
              <a:t>?</a:t>
            </a:r>
            <a:endParaRPr lang="en-US" sz="2600" dirty="0"/>
          </a:p>
        </p:txBody>
      </p:sp>
      <p:sp>
        <p:nvSpPr>
          <p:cNvPr id="10" name="Text 8"/>
          <p:cNvSpPr/>
          <p:nvPr/>
        </p:nvSpPr>
        <p:spPr>
          <a:xfrm>
            <a:off x="1234440" y="4882896"/>
            <a:ext cx="10408615" cy="1170432"/>
          </a:xfrm>
          <a:prstGeom prst="rect">
            <a:avLst/>
          </a:prstGeom>
          <a:noFill/>
          <a:ln/>
        </p:spPr>
        <p:txBody>
          <a:bodyPr wrap="square" rtlCol="0" anchor="t"/>
          <a:lstStyle/>
          <a:p>
            <a:pPr indent="0" marL="0">
              <a:lnSpc>
                <a:spcPct val="118000"/>
              </a:lnSpc>
              <a:buNone/>
            </a:pPr>
            <a:r>
              <a:rPr lang="en-US" sz="1550" dirty="0">
                <a:solidFill>
                  <a:srgbClr val="262626"/>
                </a:solidFill>
                <a:latin typeface="Calibri" pitchFamily="34" charset="0"/>
                <a:ea typeface="Calibri" pitchFamily="34" charset="-122"/>
                <a:cs typeface="Calibri" pitchFamily="34" charset="-120"/>
              </a:rPr>
              <a:t>Tekerlek uzayındaki kare limit (v, ω) uzayında eşkenar dörtgene dönüşür. Dikdörtgen model kabiliyeti fazla tahmin ediyor — bildirilen kritik hızlar üst sınır.</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658368"/>
          </a:xfrm>
          <a:prstGeom prst="rect">
            <a:avLst/>
          </a:prstGeom>
          <a:noFill/>
          <a:ln/>
        </p:spPr>
        <p:txBody>
          <a:bodyPr wrap="square" rtlCol="0" anchor="t"/>
          <a:lstStyle/>
          <a:p>
            <a:pPr algn="l" indent="0" marL="0">
              <a:buNone/>
            </a:pPr>
            <a:r>
              <a:rPr lang="en-US" sz="2600" b="1" dirty="0">
                <a:solidFill>
                  <a:srgbClr val="1F3864"/>
                </a:solidFill>
                <a:latin typeface="Calibri" pitchFamily="34" charset="0"/>
                <a:ea typeface="Calibri" pitchFamily="34" charset="-122"/>
                <a:cs typeface="Calibri" pitchFamily="34" charset="-120"/>
              </a:rPr>
              <a:t>Özet</a:t>
            </a:r>
            <a:endParaRPr lang="en-US" sz="2600" dirty="0"/>
          </a:p>
        </p:txBody>
      </p:sp>
      <p:sp>
        <p:nvSpPr>
          <p:cNvPr id="3" name="Text 1"/>
          <p:cNvSpPr/>
          <p:nvPr/>
        </p:nvSpPr>
        <p:spPr>
          <a:xfrm>
            <a:off x="1188720" y="1828800"/>
            <a:ext cx="640080" cy="1005840"/>
          </a:xfrm>
          <a:prstGeom prst="rect">
            <a:avLst/>
          </a:prstGeom>
          <a:noFill/>
          <a:ln/>
        </p:spPr>
        <p:txBody>
          <a:bodyPr wrap="square" rtlCol="0" anchor="t"/>
          <a:lstStyle/>
          <a:p>
            <a:pPr algn="ctr" indent="0" marL="0">
              <a:buNone/>
            </a:pPr>
            <a:r>
              <a:rPr lang="en-US" sz="3400" b="1" dirty="0">
                <a:solidFill>
                  <a:srgbClr val="2E74B5"/>
                </a:solidFill>
                <a:latin typeface="Calibri" pitchFamily="34" charset="0"/>
                <a:ea typeface="Calibri" pitchFamily="34" charset="-122"/>
                <a:cs typeface="Calibri" pitchFamily="34" charset="-120"/>
              </a:rPr>
              <a:t>1</a:t>
            </a:r>
            <a:endParaRPr lang="en-US" sz="3400" dirty="0"/>
          </a:p>
        </p:txBody>
      </p:sp>
      <p:sp>
        <p:nvSpPr>
          <p:cNvPr id="4" name="Text 2"/>
          <p:cNvSpPr/>
          <p:nvPr/>
        </p:nvSpPr>
        <p:spPr>
          <a:xfrm>
            <a:off x="2011680" y="1828800"/>
            <a:ext cx="9265615" cy="1005840"/>
          </a:xfrm>
          <a:prstGeom prst="rect">
            <a:avLst/>
          </a:prstGeom>
          <a:noFill/>
          <a:ln/>
        </p:spPr>
        <p:txBody>
          <a:bodyPr wrap="square" rtlCol="0" anchor="t"/>
          <a:lstStyle/>
          <a:p>
            <a:pPr indent="0" marL="0">
              <a:lnSpc>
                <a:spcPct val="125000"/>
              </a:lnSpc>
              <a:buNone/>
            </a:pPr>
            <a:r>
              <a:rPr lang="en-US" sz="1800" dirty="0">
                <a:solidFill>
                  <a:srgbClr val="262626"/>
                </a:solidFill>
                <a:latin typeface="Calibri" pitchFamily="34" charset="0"/>
                <a:ea typeface="Calibri" pitchFamily="34" charset="-122"/>
                <a:cs typeface="Calibri" pitchFamily="34" charset="-120"/>
              </a:rPr>
              <a:t>Girdi kısıtlı nonholonomik bir platformda CBF-QP güvenlik filtresinin çalışma zarfı, dört parametre ekseninde deneysel olarak haritalandı.</a:t>
            </a:r>
            <a:endParaRPr lang="en-US" sz="1800" dirty="0"/>
          </a:p>
        </p:txBody>
      </p:sp>
      <p:sp>
        <p:nvSpPr>
          <p:cNvPr id="5" name="Text 3"/>
          <p:cNvSpPr/>
          <p:nvPr/>
        </p:nvSpPr>
        <p:spPr>
          <a:xfrm>
            <a:off x="1188720" y="3200400"/>
            <a:ext cx="640080" cy="1005840"/>
          </a:xfrm>
          <a:prstGeom prst="rect">
            <a:avLst/>
          </a:prstGeom>
          <a:noFill/>
          <a:ln/>
        </p:spPr>
        <p:txBody>
          <a:bodyPr wrap="square" rtlCol="0" anchor="t"/>
          <a:lstStyle/>
          <a:p>
            <a:pPr algn="ctr" indent="0" marL="0">
              <a:buNone/>
            </a:pPr>
            <a:r>
              <a:rPr lang="en-US" sz="3400" b="1" dirty="0">
                <a:solidFill>
                  <a:srgbClr val="2E74B5"/>
                </a:solidFill>
                <a:latin typeface="Calibri" pitchFamily="34" charset="0"/>
                <a:ea typeface="Calibri" pitchFamily="34" charset="-122"/>
                <a:cs typeface="Calibri" pitchFamily="34" charset="-120"/>
              </a:rPr>
              <a:t>2</a:t>
            </a:r>
            <a:endParaRPr lang="en-US" sz="3400" dirty="0"/>
          </a:p>
        </p:txBody>
      </p:sp>
      <p:sp>
        <p:nvSpPr>
          <p:cNvPr id="6" name="Text 4"/>
          <p:cNvSpPr/>
          <p:nvPr/>
        </p:nvSpPr>
        <p:spPr>
          <a:xfrm>
            <a:off x="2011680" y="3200400"/>
            <a:ext cx="9265615" cy="1005840"/>
          </a:xfrm>
          <a:prstGeom prst="rect">
            <a:avLst/>
          </a:prstGeom>
          <a:noFill/>
          <a:ln/>
        </p:spPr>
        <p:txBody>
          <a:bodyPr wrap="square" rtlCol="0" anchor="t"/>
          <a:lstStyle/>
          <a:p>
            <a:pPr indent="0" marL="0">
              <a:lnSpc>
                <a:spcPct val="125000"/>
              </a:lnSpc>
              <a:buNone/>
            </a:pPr>
            <a:r>
              <a:rPr lang="en-US" sz="1800" dirty="0">
                <a:solidFill>
                  <a:srgbClr val="262626"/>
                </a:solidFill>
                <a:latin typeface="Calibri" pitchFamily="34" charset="0"/>
                <a:ea typeface="Calibri" pitchFamily="34" charset="-122"/>
                <a:cs typeface="Calibri" pitchFamily="34" charset="-120"/>
              </a:rPr>
              <a:t>Fiziksel çarpışma sınırı ile CBF tasarım garantisi sınırı ayrı yerlerde; aktüatör doygunluğu, güvenliğin bozulduğu hızın yarısında başlıyor.</a:t>
            </a:r>
            <a:endParaRPr lang="en-US" sz="1800" dirty="0"/>
          </a:p>
        </p:txBody>
      </p:sp>
      <p:sp>
        <p:nvSpPr>
          <p:cNvPr id="7" name="Text 5"/>
          <p:cNvSpPr/>
          <p:nvPr/>
        </p:nvSpPr>
        <p:spPr>
          <a:xfrm>
            <a:off x="1188720" y="4572000"/>
            <a:ext cx="640080" cy="1005840"/>
          </a:xfrm>
          <a:prstGeom prst="rect">
            <a:avLst/>
          </a:prstGeom>
          <a:noFill/>
          <a:ln/>
        </p:spPr>
        <p:txBody>
          <a:bodyPr wrap="square" rtlCol="0" anchor="t"/>
          <a:lstStyle/>
          <a:p>
            <a:pPr algn="ctr" indent="0" marL="0">
              <a:buNone/>
            </a:pPr>
            <a:r>
              <a:rPr lang="en-US" sz="3400" b="1" dirty="0">
                <a:solidFill>
                  <a:srgbClr val="2E74B5"/>
                </a:solidFill>
                <a:latin typeface="Calibri" pitchFamily="34" charset="0"/>
                <a:ea typeface="Calibri" pitchFamily="34" charset="-122"/>
                <a:cs typeface="Calibri" pitchFamily="34" charset="-120"/>
              </a:rPr>
              <a:t>3</a:t>
            </a:r>
            <a:endParaRPr lang="en-US" sz="3400" dirty="0"/>
          </a:p>
        </p:txBody>
      </p:sp>
      <p:sp>
        <p:nvSpPr>
          <p:cNvPr id="8" name="Text 6"/>
          <p:cNvSpPr/>
          <p:nvPr/>
        </p:nvSpPr>
        <p:spPr>
          <a:xfrm>
            <a:off x="2011680" y="4572000"/>
            <a:ext cx="9265615" cy="1005840"/>
          </a:xfrm>
          <a:prstGeom prst="rect">
            <a:avLst/>
          </a:prstGeom>
          <a:noFill/>
          <a:ln/>
        </p:spPr>
        <p:txBody>
          <a:bodyPr wrap="square" rtlCol="0" anchor="t"/>
          <a:lstStyle/>
          <a:p>
            <a:pPr indent="0" marL="0">
              <a:lnSpc>
                <a:spcPct val="125000"/>
              </a:lnSpc>
              <a:buNone/>
            </a:pPr>
            <a:r>
              <a:rPr lang="en-US" sz="1800" dirty="0">
                <a:solidFill>
                  <a:srgbClr val="262626"/>
                </a:solidFill>
                <a:latin typeface="Calibri" pitchFamily="34" charset="0"/>
                <a:ea typeface="Calibri" pitchFamily="34" charset="-122"/>
                <a:cs typeface="Calibri" pitchFamily="34" charset="-120"/>
              </a:rPr>
              <a:t>Öngörü faydalıdır ama üst sınırı vardır — çok büyük ufuk filtreyi rahatlatarak körleştirir.</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CBF-QP Guvenlik Filtresi</dc:title>
  <dc:subject/>
  <dc:creator/>
  <cp:lastModifiedBy/>
  <cp:revision>1</cp:revision>
  <dcterms:created xsi:type="dcterms:W3CDTF">2026-09-12T09:09:38Z</dcterms:created>
  <dcterms:modified xsi:type="dcterms:W3CDTF">2026-09-12T09:09:38Z</dcterms:modified>
</cp:coreProperties>
</file>